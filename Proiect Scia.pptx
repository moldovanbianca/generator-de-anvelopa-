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9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6" r:id="rId21"/>
    <p:sldId id="278" r:id="rId22"/>
    <p:sldId id="294" r:id="rId23"/>
    <p:sldId id="295" r:id="rId24"/>
    <p:sldId id="297" r:id="rId25"/>
    <p:sldId id="283" r:id="rId26"/>
    <p:sldId id="298" r:id="rId27"/>
    <p:sldId id="299" r:id="rId28"/>
    <p:sldId id="300" r:id="rId29"/>
    <p:sldId id="302" r:id="rId30"/>
    <p:sldId id="28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20:35:54.1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0,'1244'24'0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4T20:35:56.6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1,'1250'0,"-1223"0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0:00:23.1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0 102 0,'1271'-101'0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5T00:00:25.4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0,'1281'0,"-1252"0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5T00:06:48.09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1,'1246'0,"-1225"0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5T00:06:50.13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1,'1398'0,"-1376"0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5T00:53:31.71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0,'1678'0,"-1656"0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5T01:01:10.59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53,'29'-5,"-7"0,495-37,7 42,-234 2,55-2,-323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01:17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13590 0 24387,'-13590'4546'0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01:19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24575,'12'1'0,"0"1"0,0 0 0,0 1 0,0 1 0,-1 0 0,1 0 0,12 7 0,31 11 0,142 28 0,-192-49 0,0 0 0,0 1 0,0 0 0,0-1 0,-1 2 0,1-1 0,-1 0 0,1 1 0,-1 0 0,0 0 0,0 0 0,0 1 0,-1-1 0,1 1 0,5 8 0,-7-9 0,0 0 0,-1 0 0,1 0 0,-1 0 0,1 0 0,-1 1 0,0-1 0,0 1 0,-1-1 0,1 0 0,-1 1 0,1-1 0,-1 1 0,0-1 0,-1 1 0,1-1 0,-1 1 0,1-1 0,-1 1 0,0-1 0,0 0 0,0 1 0,-3 4 0,-4 4 0,0 0 0,-1 0 0,0-1 0,-1 0 0,0-1 0,-19 15 0,-2-1 0,-41 24 0,56-38-273,-1 0 0,0-2 0,-1 0 0,-33 10 0,22-12-6553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15:36.61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0,'1474'0'0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15:44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6737 20226,'0'-6736'0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16:44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357 428 24575,'0'-9'0,"0"1"0,-1-1 0,0 1 0,0-1 0,-1 1 0,0 0 0,0-1 0,-1 1 0,0 0 0,0 0 0,-1 1 0,0-1 0,-1 1 0,1 0 0,-1 0 0,-1 0 0,-8-9 0,-89-76 0,72 66 0,0-1 0,-51-60 0,78 81-273,-1 0 0,0 1 0,0 0 0,-9-7 0,-2 2-6553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17:01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1 438 24575,'51'-47'0,"-39"37"0,-1 0 0,0-1 0,0 0 0,-1-1 0,0 0 0,-1 0 0,9-17 0,1-5 0,2 1 0,44-55 0,-35 49 0,-23 28-72,-1 1 0,0-2 0,7-15 0,-7 13-1005,0-1-5749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5T01:38:10.64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0,'1373'0,"-1351"0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38:18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5384 0 24299,'-5384'4267'0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38:21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383 1 24575,'-4'0'0,"-11"0"0,-10 0 0,-11 0 0,-7 0 0,-5 0 0,1 0 0,5 0 0,4 0 0,5 0 0,4 0 0,7 0-8191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38:22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24575,'4'4'0,"2"6"0,4 10 0,5 10 0,3 4 0,0 1 0,0-1 0,2 2 0,-2-1 0,-5-2 0,0-2 0,-2-2 0,-3-6-8191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5T01:42:02.36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1,'40'0,"-1"2,59 12,9-1,-8-1,-39-5,0-2,98-6,-55-1,684 2,-765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42:07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1981 1 23365,'-1981'4419'0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42:09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0 24575,'0'5'0,"-13"9"0,-13 16 0,-19 11 0,-7 3 0,-3-1 0,4-9 0,10-5 0,9-8 0,8-7-8191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42:10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24575,'-5'0'0,"0"4"0,-1 15 0,1 16 0,7 8 0,2 8 0,4 5 0,2-3 0,-2-6 0,-1-7 0,-3-6 0,-1-8-8191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1A262-6B60-4510-A862-75453785B91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1B04E-6047-4BAF-BB04-08B76F9E5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8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39595-FEE7-C769-50E1-581C34C17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9F62E-53E8-54B8-40DE-6AB9802E4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97E0A-3736-53E2-1D1A-AA2CB01BB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6872B-8C49-4608-D23F-2F0D5D161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4BA1E-5909-44DC-9A55-1356052E547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730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C0107-D843-DECB-839E-378359C6D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DA831-2958-64D0-5E19-A7AB4CF37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8165E-2256-619A-F8D8-3BC3E0023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11D5A-2B74-BB30-F0B7-55540E53C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4BA1E-5909-44DC-9A55-1356052E547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2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C7AAC2A-6C41-754C-C0E7-E0D3812C0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4756DA69-5828-2A78-AA55-97ACEAA23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30B8EC3B-B73F-DD20-E49F-C78DE26DD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A90A3-5A48-4417-A05F-E6338FA9DBE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417488C-5F4E-D102-887E-FA2459809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03B162BC-F947-1A4D-CDE8-E715E8C05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D748-F593-4513-9D15-1B5985F4D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4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C5C0E78-E635-5F3F-5105-1A825DBAC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470A3EB-2CD9-EAAA-2AAD-DDC5409B8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FF30B56-9E62-B627-8273-2B3E24450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A90A3-5A48-4417-A05F-E6338FA9DBE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F265DF2-E120-2180-E38C-1C7F43A26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44C2D56-7E75-610B-0BE6-9F66014A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D748-F593-4513-9D15-1B5985F4D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69914E0-671E-74FF-4AEC-53F8498A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2ADD8CE-A2B0-A15E-CAFB-B20C71104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FC360CA-4DD2-33A4-037C-750EFEB4B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A90A3-5A48-4417-A05F-E6338FA9DBE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4A33A23-70B0-4920-97E2-B11E9330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9D18047-61FF-F162-F231-AADF66D9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D748-F593-4513-9D15-1B5985F4D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39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F5165B-EC96-2799-A6B8-07A38421F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4E8A08F-BA8F-B207-EC58-1573BFAE3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C9762A56-6833-64B5-602B-BAC2627BD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85A8B3AB-46F4-CDCF-C491-7C82E47E6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A90A3-5A48-4417-A05F-E6338FA9DBE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1FEADB00-720D-83D9-C566-E6C736ED5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01275263-15E2-240D-72C4-9E920668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D748-F593-4513-9D15-1B5985F4D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7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C67890D-563B-A311-C2D8-BD0AC665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D6AACE3-115A-FBDC-DFCC-1EA93B2CA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D795672F-AAF2-32FD-3B7A-DD4BE9C46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78F4109B-47BB-F66A-05CC-99D2CB26E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5F6296A1-6D47-C400-FD0D-39F2CD4DA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E873BD19-D360-B50E-8587-9E89139B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A90A3-5A48-4417-A05F-E6338FA9DBE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5ABDC474-58F9-460C-7FBA-CEA3A0F77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F3F1F3FA-13C8-E5A5-13EB-92D1721F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D748-F593-4513-9D15-1B5985F4D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5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8DB9FE2-2901-35D9-A16D-73A703987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108FD5A8-80B8-4EC6-890B-3AF6986E6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A90A3-5A48-4417-A05F-E6338FA9DBE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9EDE6070-3F5D-595D-B9C7-6FCCA3AA9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96DA03E9-548A-F93F-3300-745B095E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D748-F593-4513-9D15-1B5985F4D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06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C77576D4-C182-6FD5-CC5C-D616F2D47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A90A3-5A48-4417-A05F-E6338FA9DBE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FF6392A6-826C-311F-2C4A-CC846BF6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352B2BAF-0484-C9CA-BE94-EC1A6094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D748-F593-4513-9D15-1B5985F4D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44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53EE91F-7B3B-EDF1-95E5-3A9FC390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4200D7C-5969-F998-CE0E-072DD6BED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2BB4C9B1-6CA5-E735-641D-799DFDE1D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52198E4C-7702-6D37-3338-315008C6B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A90A3-5A48-4417-A05F-E6338FA9DBE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9F050299-A142-9E08-F6A5-159D0A1C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643B16CC-3D11-3297-C22F-26F9BBED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D748-F593-4513-9D15-1B5985F4D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47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5AE5BCD-8BFF-E40A-B955-55AE65E56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684B6B35-3144-A3FD-B7C1-4A02AF55C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DD95FAF1-6AB7-28CF-5FB5-AB6F18FCB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E9987A73-AB8C-22B9-9295-090C1B2EF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A90A3-5A48-4417-A05F-E6338FA9DBE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8E091614-1030-43B5-58DC-6C091CDC9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4E44E4AD-8D10-7C7D-C0AD-E7F2C8EE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D748-F593-4513-9D15-1B5985F4D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0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913A72B-3AC9-9988-66EA-95AFC127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773BE851-E8F6-A07E-CD28-C8C6EED79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81DF9E3-8B9F-DD6C-62EE-7306D1EF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A90A3-5A48-4417-A05F-E6338FA9DBE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BD77ED8-1E6B-41F4-7F50-DA9028AED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5AC9C74-2954-7F11-4A54-595F8CD6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D748-F593-4513-9D15-1B5985F4D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BD75B6BE-E060-30A3-350E-087AFA056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07743708-C9EF-E287-4343-147EFA411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2D9D5C-C97A-3DAA-3299-86D15EC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A90A3-5A48-4417-A05F-E6338FA9DBE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910F93-BE30-000C-16BC-F4BD9E49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8F9D790-2C01-3D16-4764-674616EB2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D748-F593-4513-9D15-1B5985F4D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4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861D1A19-D0B9-3854-4246-277FA51E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755C0990-2E58-38AF-7DF0-273A9FFC6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0D3A0E96-998F-5155-A368-697F7957A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A90A3-5A48-4417-A05F-E6338FA9DBE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30945B0A-8572-755E-9763-8549D86500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11BF7F4-E756-C842-E56E-11E31B282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BD748-F593-4513-9D15-1B5985F4D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6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2.png"/><Relationship Id="rId4" Type="http://schemas.openxmlformats.org/officeDocument/2006/relationships/customXml" Target="../ink/ink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6.png"/><Relationship Id="rId4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21.png"/><Relationship Id="rId4" Type="http://schemas.openxmlformats.org/officeDocument/2006/relationships/customXml" Target="../ink/ink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31.png"/><Relationship Id="rId4" Type="http://schemas.openxmlformats.org/officeDocument/2006/relationships/customXml" Target="../ink/ink8.xml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customXml" Target="../ink/ink12.xml"/><Relationship Id="rId10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customXml" Target="../ink/ink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customXml" Target="../ink/ink16.xml"/><Relationship Id="rId10" Type="http://schemas.openxmlformats.org/officeDocument/2006/relationships/image" Target="../media/image43.png"/><Relationship Id="rId4" Type="http://schemas.openxmlformats.org/officeDocument/2006/relationships/image" Target="../media/image40.png"/><Relationship Id="rId9" Type="http://schemas.openxmlformats.org/officeDocument/2006/relationships/customXml" Target="../ink/ink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customXml" Target="../ink/ink20.xml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customXml" Target="../ink/ink2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62.png"/><Relationship Id="rId7" Type="http://schemas.openxmlformats.org/officeDocument/2006/relationships/image" Target="../media/image2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5B34636-BF6D-7328-BA19-73B58202B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3238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ro-RO" sz="4900" dirty="0"/>
              <a:t> </a:t>
            </a:r>
            <a:br>
              <a:rPr lang="en-US" sz="4900" dirty="0"/>
            </a:br>
            <a:r>
              <a:rPr lang="ro-RO" sz="4900" b="1" i="1" dirty="0"/>
              <a:t>PROIECT DE SEMESTRU LA  DISCIPLINA SISTEME CU CIRCUITE </a:t>
            </a:r>
            <a:br>
              <a:rPr lang="en-US" sz="4900" dirty="0"/>
            </a:br>
            <a:r>
              <a:rPr lang="ro-RO" sz="4900" b="1" i="1" dirty="0"/>
              <a:t>INTEGRATE ANALOGIC </a:t>
            </a:r>
            <a:br>
              <a:rPr lang="en-US" sz="4900" dirty="0"/>
            </a:br>
            <a:r>
              <a:rPr lang="ro-RO" sz="4900" b="1" i="1" dirty="0"/>
              <a:t>2025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4264B804-F726-3ACF-4E7B-6EB893B72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82378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ro-RO" b="1" i="1" dirty="0"/>
              <a:t> </a:t>
            </a:r>
            <a:endParaRPr lang="en-US" dirty="0"/>
          </a:p>
          <a:p>
            <a:pPr algn="l"/>
            <a:r>
              <a:rPr lang="ro-RO" sz="9600" b="1" i="1" dirty="0"/>
              <a:t>Profesor îndrumător:  </a:t>
            </a:r>
            <a:endParaRPr lang="en-US" sz="9600" dirty="0"/>
          </a:p>
          <a:p>
            <a:pPr algn="l"/>
            <a:r>
              <a:rPr lang="ro-RO" sz="9600" b="1" i="1" dirty="0" err="1"/>
              <a:t>Conf.dr.ing</a:t>
            </a:r>
            <a:r>
              <a:rPr lang="ro-RO" sz="9600" b="1" i="1" dirty="0"/>
              <a:t>. Albert FAZAKAS</a:t>
            </a:r>
            <a:endParaRPr lang="en-US" sz="9600" dirty="0"/>
          </a:p>
          <a:p>
            <a:r>
              <a:rPr lang="ro-RO" sz="9600" b="1" i="1" dirty="0"/>
              <a:t> </a:t>
            </a:r>
            <a:endParaRPr lang="en-US" sz="9600" dirty="0"/>
          </a:p>
          <a:p>
            <a:pPr algn="r"/>
            <a:r>
              <a:rPr lang="ro-RO" sz="9600" b="1" i="1" dirty="0"/>
              <a:t>Realizat de: </a:t>
            </a:r>
            <a:endParaRPr lang="en-US" sz="9600" dirty="0">
              <a:effectLst/>
            </a:endParaRPr>
          </a:p>
          <a:p>
            <a:pPr algn="r"/>
            <a:r>
              <a:rPr lang="ro-RO" sz="9600" b="1" i="1" dirty="0"/>
              <a:t>Moldovan Daniela Bianca</a:t>
            </a:r>
            <a:endParaRPr lang="en-US" sz="9600" dirty="0"/>
          </a:p>
          <a:p>
            <a:pPr algn="r"/>
            <a:r>
              <a:rPr lang="ro-RO" sz="9600" b="1" i="1" dirty="0"/>
              <a:t>An III, Specializarea TST, Grupa 2231</a:t>
            </a:r>
            <a:endParaRPr lang="en-US" sz="9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624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634E078-7131-E815-150C-FA3910DB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marR="0" lvl="0" indent="-342900" algn="ctr">
              <a:lnSpc>
                <a:spcPct val="115000"/>
              </a:lnSpc>
              <a:spcAft>
                <a:spcPts val="2400"/>
              </a:spcAft>
            </a:pPr>
            <a:r>
              <a:rPr lang="ro-RO" sz="3600" b="1" kern="100" dirty="0">
                <a:solidFill>
                  <a:srgbClr val="FF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3600" b="1" kern="100" dirty="0" err="1">
                <a:solidFill>
                  <a:srgbClr val="FF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erinta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8A384CC-F92D-96D7-59E4-8F3E82781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>
              <a:buNone/>
            </a:pP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Să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se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proiecteze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și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să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se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simuleze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un circuit electronic care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generează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semnalul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specificat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în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diagrama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tensiuni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ieșire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pozitive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Funcționalitate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specifică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Partea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trapezoidală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pornește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în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momentul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acționării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unui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buton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BTN1.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Partea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triunghiulară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este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prezentă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doar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la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acționarea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unui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buton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BTN2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și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doar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când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partea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trapezoidală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este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pe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palierul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superior.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Circuitul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este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alimentat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la o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tensiune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diferențială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m 5V.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10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D9A0890-9CBE-B4F5-B1BA-A221D8EB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3600" b="1" dirty="0">
                <a:solidFill>
                  <a:srgbClr val="FF0000"/>
                </a:solidFill>
              </a:rPr>
              <a:t>Detalii tehnice</a:t>
            </a:r>
            <a:br>
              <a:rPr lang="en-US" sz="3600" dirty="0">
                <a:solidFill>
                  <a:srgbClr val="FF0000"/>
                </a:solidFill>
              </a:rPr>
            </a:br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4" name="Substituent conținut 3">
            <a:extLst>
              <a:ext uri="{FF2B5EF4-FFF2-40B4-BE49-F238E27FC236}">
                <a16:creationId xmlns:a16="http://schemas.microsoft.com/office/drawing/2014/main" id="{B897DCDE-694A-10D0-48AD-967F4BE7D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86525" y="1783572"/>
            <a:ext cx="6505475" cy="419812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tăText 5">
                <a:extLst>
                  <a:ext uri="{FF2B5EF4-FFF2-40B4-BE49-F238E27FC236}">
                    <a16:creationId xmlns:a16="http://schemas.microsoft.com/office/drawing/2014/main" id="{C46913F2-CAFE-9750-1A9F-AF9FC4A7CC99}"/>
                  </a:ext>
                </a:extLst>
              </p:cNvPr>
              <p:cNvSpPr txBox="1"/>
              <p:nvPr/>
            </p:nvSpPr>
            <p:spPr>
              <a:xfrm>
                <a:off x="457468" y="1365504"/>
                <a:ext cx="6591300" cy="1880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buNone/>
                </a:pPr>
                <a:r>
                  <a:rPr lang="en-US" sz="20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Parametrii</a:t>
                </a:r>
                <a:r>
                  <a:rPr lang="en-US" sz="20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semnalului</a:t>
                </a:r>
                <a:r>
                  <a:rPr lang="en-US" sz="20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sunt </a:t>
                </a:r>
                <a:r>
                  <a:rPr lang="en-US" sz="20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următorii</a:t>
                </a:r>
                <a:r>
                  <a:rPr lang="en-US" sz="20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:</a:t>
                </a:r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5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2000" b="1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Amplitudine</a:t>
                </a:r>
                <a:r>
                  <a:rPr lang="en-US" sz="2000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totală</a:t>
                </a:r>
                <a:r>
                  <a:rPr lang="en-US" sz="2000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(A):</a:t>
                </a:r>
                <a:r>
                  <a:rPr lang="en-US" sz="20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3.5V</a:t>
                </a:r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5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2000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Nivel </a:t>
                </a:r>
                <a:r>
                  <a:rPr lang="en-US" sz="2000" b="1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palier</a:t>
                </a:r>
                <a:r>
                  <a:rPr lang="en-US" sz="2000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trapez (B):</a:t>
                </a:r>
                <a:r>
                  <a:rPr lang="en-US" sz="20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3V</a:t>
                </a:r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5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2000" b="1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Perioada</a:t>
                </a:r>
                <a:r>
                  <a:rPr lang="en-US" sz="2000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trapezului</a:t>
                </a:r>
                <a:r>
                  <a:rPr lang="en-US" sz="2000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e>
                      <m:sub>
                        <m:r>
                          <a:rPr lang="en-US" sz="20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𝒕𝒓𝒂𝒑𝒆𝒛</m:t>
                        </m:r>
                      </m:sub>
                    </m:sSub>
                  </m:oMath>
                </a14:m>
                <a:r>
                  <a:rPr lang="en-US" sz="2000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):</a:t>
                </a:r>
                <a:r>
                  <a:rPr lang="en-US" sz="20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2s</a:t>
                </a:r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5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2000" b="1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Perioada</a:t>
                </a:r>
                <a:r>
                  <a:rPr lang="en-US" sz="2000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triunghiului</a:t>
                </a:r>
                <a:r>
                  <a:rPr lang="en-US" sz="2000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e>
                      <m:sub>
                        <m:r>
                          <a:rPr lang="en-US" sz="20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𝒕𝒓𝒊𝒖𝒏𝒈𝒉𝒊</m:t>
                        </m:r>
                      </m:sub>
                    </m:sSub>
                  </m:oMath>
                </a14:m>
                <a:r>
                  <a:rPr lang="en-US" sz="2000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):</a:t>
                </a:r>
                <a:r>
                  <a:rPr lang="en-US" sz="20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150ms</a:t>
                </a:r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asetăText 5">
                <a:extLst>
                  <a:ext uri="{FF2B5EF4-FFF2-40B4-BE49-F238E27FC236}">
                    <a16:creationId xmlns:a16="http://schemas.microsoft.com/office/drawing/2014/main" id="{C46913F2-CAFE-9750-1A9F-AF9FC4A7C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68" y="1365504"/>
                <a:ext cx="6591300" cy="1880195"/>
              </a:xfrm>
              <a:prstGeom prst="rect">
                <a:avLst/>
              </a:prstGeom>
              <a:blipFill>
                <a:blip r:embed="rId3"/>
                <a:stretch>
                  <a:fillRect l="-925" t="-1623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966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242E1BC-5DA4-63EC-9C34-3C6902FB8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7" y="75471"/>
            <a:ext cx="11746512" cy="128089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Schema bloc</a:t>
            </a:r>
          </a:p>
        </p:txBody>
      </p:sp>
      <p:pic>
        <p:nvPicPr>
          <p:cNvPr id="5" name="Substituent conținut 4" descr="O imagine care conține text, diagramă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77F06FA6-0DCE-02BF-4C0E-03A6286E4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1532" y="1090075"/>
            <a:ext cx="6463176" cy="518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688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7A000DA-31E8-1B71-4236-24A33151D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" y="58844"/>
            <a:ext cx="11786615" cy="128089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Schema </a:t>
            </a:r>
            <a:r>
              <a:rPr lang="en-US" sz="3600" b="1" dirty="0" err="1">
                <a:solidFill>
                  <a:srgbClr val="FF0000"/>
                </a:solidFill>
              </a:rPr>
              <a:t>electrica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7" name="Imagine 6" descr="O imagine care conține diagramă, linie, Plan&#10;&#10;Conținutul generat de inteligența artificială poate fi incorect.">
            <a:extLst>
              <a:ext uri="{FF2B5EF4-FFF2-40B4-BE49-F238E27FC236}">
                <a16:creationId xmlns:a16="http://schemas.microsoft.com/office/drawing/2014/main" id="{BB1F1D91-C572-FA80-3CC3-6CE231F45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49" y="1083564"/>
            <a:ext cx="11045301" cy="52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76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ubstituent conținut 3">
            <a:extLst>
              <a:ext uri="{FF2B5EF4-FFF2-40B4-BE49-F238E27FC236}">
                <a16:creationId xmlns:a16="http://schemas.microsoft.com/office/drawing/2014/main" id="{DAEC4CCC-F09D-1103-A782-65DB93FFE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674" y="493133"/>
            <a:ext cx="4329297" cy="6276147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FE6F7985-36E7-57D3-F672-ADA1ACF53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1" y="-74159"/>
            <a:ext cx="11576304" cy="1280890"/>
          </a:xfrm>
        </p:spPr>
        <p:txBody>
          <a:bodyPr>
            <a:noAutofit/>
          </a:bodyPr>
          <a:lstStyle/>
          <a:p>
            <a:pPr marL="342900" marR="0" lvl="0" indent="-34290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3086100" algn="ctr"/>
                <a:tab pos="4324350" algn="l"/>
              </a:tabLst>
            </a:pPr>
            <a:r>
              <a:rPr lang="ro-RO" sz="3600" b="1" kern="100" dirty="0">
                <a:solidFill>
                  <a:srgbClr val="FF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Proiectarea si calculul detaliat al circuitului </a:t>
            </a:r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55B9FED3-0030-3B12-7C9A-5ABC0CB09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832" y="919577"/>
            <a:ext cx="4630494" cy="2509423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A331B41C-1112-BE37-C320-239AF54EF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927" y="3725123"/>
            <a:ext cx="4723399" cy="280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75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3F58D1F4-43A1-4887-6B8E-92375764C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13" y="531737"/>
            <a:ext cx="5270787" cy="5641701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C9C24B90-EABA-64A6-E433-84D840098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960" y="531736"/>
            <a:ext cx="4293827" cy="564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31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D4C8694-F777-758F-3E44-E7F3F0D9F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6" y="157766"/>
            <a:ext cx="11548871" cy="1280890"/>
          </a:xfrm>
        </p:spPr>
        <p:txBody>
          <a:bodyPr>
            <a:normAutofit/>
          </a:bodyPr>
          <a:lstStyle/>
          <a:p>
            <a:pPr algn="ctr"/>
            <a:r>
              <a:rPr lang="it-IT" sz="3600" b="1" dirty="0">
                <a:solidFill>
                  <a:srgbClr val="FF0000"/>
                </a:solidFill>
              </a:rPr>
              <a:t>Blocul Generator Trapezoidal (Timer 555 + Amplificator și Limitator)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7" name="Substituent conținut 6">
            <a:extLst>
              <a:ext uri="{FF2B5EF4-FFF2-40B4-BE49-F238E27FC236}">
                <a16:creationId xmlns:a16="http://schemas.microsoft.com/office/drawing/2014/main" id="{36BDBDE4-5140-D65D-EF5D-7123F41DE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" r="-8" b="13362"/>
          <a:stretch>
            <a:fillRect/>
          </a:stretch>
        </p:blipFill>
        <p:spPr>
          <a:xfrm>
            <a:off x="594672" y="1355225"/>
            <a:ext cx="4021659" cy="4934077"/>
          </a:xfrm>
          <a:prstGeom prst="rect">
            <a:avLst/>
          </a:prstGeom>
        </p:spPr>
      </p:pic>
      <p:pic>
        <p:nvPicPr>
          <p:cNvPr id="9" name="Imagine 8" descr="O imagine care conține text, Interval, diagramă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F87ED74D-867A-3E43-144C-631CD8549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080" y="1546216"/>
            <a:ext cx="8073920" cy="39565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03C6C806-9E78-87CF-5FE5-BCCE2E7AA05A}"/>
                  </a:ext>
                </a:extLst>
              </p14:cNvPr>
              <p14:cNvContentPartPr/>
              <p14:nvPr/>
            </p14:nvContentPartPr>
            <p14:xfrm>
              <a:off x="11057868" y="3958828"/>
              <a:ext cx="448200" cy="90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03C6C806-9E78-87CF-5FE5-BCCE2E7AA0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04228" y="3850828"/>
                <a:ext cx="5558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43CE06B9-4DD4-C6CB-4561-283DC833E746}"/>
                  </a:ext>
                </a:extLst>
              </p14:cNvPr>
              <p14:cNvContentPartPr/>
              <p14:nvPr/>
            </p14:nvContentPartPr>
            <p14:xfrm>
              <a:off x="11057868" y="4298805"/>
              <a:ext cx="460080" cy="3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43CE06B9-4DD4-C6CB-4561-283DC833E7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03868" y="4191165"/>
                <a:ext cx="56772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1535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ine 8" descr="O imagine care conține text, scris de mână, Font, caligrafie&#10;&#10;Conținutul generat de inteligența artificială poate fi incorect.">
            <a:extLst>
              <a:ext uri="{FF2B5EF4-FFF2-40B4-BE49-F238E27FC236}">
                <a16:creationId xmlns:a16="http://schemas.microsoft.com/office/drawing/2014/main" id="{85536388-33D7-2A73-C52A-7ACAC3DB4B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32" r="11033" b="8779"/>
          <a:stretch>
            <a:fillRect/>
          </a:stretch>
        </p:blipFill>
        <p:spPr>
          <a:xfrm>
            <a:off x="536429" y="4758128"/>
            <a:ext cx="5680428" cy="1940333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1054B4A3-A970-FA36-5AF8-57FCA7C4F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" y="216064"/>
            <a:ext cx="11969496" cy="825175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err="1">
                <a:solidFill>
                  <a:srgbClr val="FF0000"/>
                </a:solidFill>
              </a:rPr>
              <a:t>Semnalul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Triunghiular</a:t>
            </a:r>
            <a:r>
              <a:rPr lang="en-US" sz="3600" b="1" dirty="0">
                <a:solidFill>
                  <a:srgbClr val="FF0000"/>
                </a:solidFill>
              </a:rPr>
              <a:t> care </a:t>
            </a:r>
            <a:r>
              <a:rPr lang="en-US" sz="3600" b="1" dirty="0" err="1">
                <a:solidFill>
                  <a:srgbClr val="FF0000"/>
                </a:solidFill>
              </a:rPr>
              <a:t>trebuie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amplificat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până</a:t>
            </a:r>
            <a:r>
              <a:rPr lang="en-US" sz="3600" b="1" dirty="0">
                <a:solidFill>
                  <a:srgbClr val="FF0000"/>
                </a:solidFill>
              </a:rPr>
              <a:t> la </a:t>
            </a:r>
            <a:r>
              <a:rPr lang="en-US" sz="3600" b="1" dirty="0" err="1">
                <a:solidFill>
                  <a:srgbClr val="FF0000"/>
                </a:solidFill>
              </a:rPr>
              <a:t>excursia</a:t>
            </a:r>
            <a:r>
              <a:rPr lang="en-US" sz="3600" b="1" dirty="0">
                <a:solidFill>
                  <a:srgbClr val="FF0000"/>
                </a:solidFill>
              </a:rPr>
              <a:t> de </a:t>
            </a:r>
            <a:r>
              <a:rPr lang="en-US" sz="3600" b="1" dirty="0" err="1">
                <a:solidFill>
                  <a:srgbClr val="FF0000"/>
                </a:solidFill>
              </a:rPr>
              <a:t>tensiune</a:t>
            </a:r>
            <a:r>
              <a:rPr lang="en-US" sz="3600" b="1" dirty="0">
                <a:solidFill>
                  <a:srgbClr val="FF0000"/>
                </a:solidFill>
              </a:rPr>
              <a:t> a AO LM324</a:t>
            </a:r>
          </a:p>
        </p:txBody>
      </p:sp>
      <p:pic>
        <p:nvPicPr>
          <p:cNvPr id="5" name="Substituent conținut 4" descr="O imagine care conține text, captură de ecran, diagramă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4BC211F8-06A6-99E0-F785-FCBFA787D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92340" y="1173899"/>
            <a:ext cx="7838947" cy="37782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2235614E-523D-2700-6DBD-03FB0BC43DE9}"/>
                  </a:ext>
                </a:extLst>
              </p14:cNvPr>
              <p14:cNvContentPartPr/>
              <p14:nvPr/>
            </p14:nvContentPartPr>
            <p14:xfrm>
              <a:off x="10120830" y="3261963"/>
              <a:ext cx="457560" cy="367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2235614E-523D-2700-6DBD-03FB0BC43D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66830" y="3154323"/>
                <a:ext cx="5652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133237BF-BB1F-3297-5846-0D074EF2C5C2}"/>
                  </a:ext>
                </a:extLst>
              </p14:cNvPr>
              <p14:cNvContentPartPr/>
              <p14:nvPr/>
            </p14:nvContentPartPr>
            <p14:xfrm rot="21419214">
              <a:off x="10190088" y="3571721"/>
              <a:ext cx="471960" cy="3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133237BF-BB1F-3297-5846-0D074EF2C5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21419214">
                <a:off x="10136088" y="3463721"/>
                <a:ext cx="5796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Imagine 19" descr="O imagine care conține diagramă, linie, Font&#10;&#10;Conținutul generat de inteligența artificială poate fi incorect.">
            <a:extLst>
              <a:ext uri="{FF2B5EF4-FFF2-40B4-BE49-F238E27FC236}">
                <a16:creationId xmlns:a16="http://schemas.microsoft.com/office/drawing/2014/main" id="{B53990C7-9D19-AC6B-5729-8CD72848C1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429" y="1987360"/>
            <a:ext cx="2310432" cy="158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75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AB171AB-A3DC-26F1-A148-2E2E3EA14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551" y="292608"/>
            <a:ext cx="11516898" cy="84017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err="1">
                <a:solidFill>
                  <a:srgbClr val="FF0000"/>
                </a:solidFill>
              </a:rPr>
              <a:t>Semnalul</a:t>
            </a:r>
            <a:r>
              <a:rPr lang="en-US" sz="3600" b="1" dirty="0">
                <a:solidFill>
                  <a:srgbClr val="FF0000"/>
                </a:solidFill>
              </a:rPr>
              <a:t> Trapezoidal </a:t>
            </a:r>
            <a:r>
              <a:rPr lang="en-US" sz="3600" b="1" dirty="0" err="1">
                <a:solidFill>
                  <a:srgbClr val="FF0000"/>
                </a:solidFill>
              </a:rPr>
              <a:t>rezultat</a:t>
            </a:r>
            <a:r>
              <a:rPr lang="en-US" sz="3600" b="1" dirty="0">
                <a:solidFill>
                  <a:srgbClr val="FF0000"/>
                </a:solidFill>
              </a:rPr>
              <a:t> din </a:t>
            </a:r>
            <a:r>
              <a:rPr lang="en-US" sz="3600" b="1" dirty="0" err="1">
                <a:solidFill>
                  <a:srgbClr val="FF0000"/>
                </a:solidFill>
              </a:rPr>
              <a:t>tăierea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triunghiului</a:t>
            </a:r>
            <a:r>
              <a:rPr lang="en-US" sz="3600" b="1" dirty="0">
                <a:solidFill>
                  <a:srgbClr val="FF0000"/>
                </a:solidFill>
              </a:rPr>
              <a:t> din Timer 555</a:t>
            </a:r>
          </a:p>
        </p:txBody>
      </p:sp>
      <p:pic>
        <p:nvPicPr>
          <p:cNvPr id="5" name="Substituent conținut 4" descr="O imagine care conține text, captură de ecran, diagramă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74198F9D-3F1E-9180-3E13-4BB19E03FF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4016" y="1506157"/>
            <a:ext cx="7767984" cy="3778250"/>
          </a:xfrm>
          <a:prstGeom prst="rect">
            <a:avLst/>
          </a:prstGeom>
        </p:spPr>
      </p:pic>
      <p:pic>
        <p:nvPicPr>
          <p:cNvPr id="10" name="Imagine 9" descr="O imagine care conține text, scris de mână, Font, scrisoare&#10;&#10;Conținutul generat de inteligența artificială poate fi incorect.">
            <a:extLst>
              <a:ext uri="{FF2B5EF4-FFF2-40B4-BE49-F238E27FC236}">
                <a16:creationId xmlns:a16="http://schemas.microsoft.com/office/drawing/2014/main" id="{41C761EB-99E0-0DE1-05DF-A0443BE40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1506157"/>
            <a:ext cx="4070699" cy="38456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6B9F4DFF-6539-C6CA-D532-E30A05C368C0}"/>
                  </a:ext>
                </a:extLst>
              </p14:cNvPr>
              <p14:cNvContentPartPr/>
              <p14:nvPr/>
            </p14:nvContentPartPr>
            <p14:xfrm>
              <a:off x="10936008" y="3584016"/>
              <a:ext cx="456480" cy="3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6B9F4DFF-6539-C6CA-D532-E30A05C368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82008" y="3476376"/>
                <a:ext cx="564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70F288AD-1F95-5F06-251A-46A63FC30F24}"/>
                  </a:ext>
                </a:extLst>
              </p14:cNvPr>
              <p14:cNvContentPartPr/>
              <p14:nvPr/>
            </p14:nvContentPartPr>
            <p14:xfrm>
              <a:off x="10908468" y="3957387"/>
              <a:ext cx="511560" cy="3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70F288AD-1F95-5F06-251A-46A63FC30F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54468" y="3849747"/>
                <a:ext cx="6192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5040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1CC430A-A5E1-38CE-725C-D05713FAF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9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Semnalul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</a:t>
            </a:r>
            <a:r>
              <a:rPr kumimoji="0" lang="ro-RO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riunghiular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rezultat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din 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Trigger-Schmitt</a:t>
            </a:r>
            <a:endParaRPr lang="en-US" sz="3200" dirty="0"/>
          </a:p>
        </p:txBody>
      </p:sp>
      <p:pic>
        <p:nvPicPr>
          <p:cNvPr id="7" name="Substituent conținut 6" descr="O imagine care conține diagramă, text, linie, Font&#10;&#10;Conținutul generat de inteligența artificială poate fi incorect.">
            <a:extLst>
              <a:ext uri="{FF2B5EF4-FFF2-40B4-BE49-F238E27FC236}">
                <a16:creationId xmlns:a16="http://schemas.microsoft.com/office/drawing/2014/main" id="{F32B3C85-353A-D446-D2BB-011700B0E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83683"/>
            <a:ext cx="6163535" cy="2200582"/>
          </a:xfrm>
          <a:prstGeom prst="rect">
            <a:avLst/>
          </a:prstGeom>
        </p:spPr>
      </p:pic>
      <p:pic>
        <p:nvPicPr>
          <p:cNvPr id="9" name="Imagine 8" descr="O imagine care conține text, scris de mână, Font, scrisoare&#10;&#10;Conținutul generat de inteligența artificială poate fi incorect.">
            <a:extLst>
              <a:ext uri="{FF2B5EF4-FFF2-40B4-BE49-F238E27FC236}">
                <a16:creationId xmlns:a16="http://schemas.microsoft.com/office/drawing/2014/main" id="{F66C413E-B603-0CFC-DD5B-173F18FF6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170" y="1096328"/>
            <a:ext cx="4472217" cy="463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44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C0EBC5E-2C31-B11E-E71F-B0635354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>
                <a:solidFill>
                  <a:srgbClr val="FF0000"/>
                </a:solidFill>
              </a:rPr>
              <a:t>Semnalul </a:t>
            </a:r>
            <a:r>
              <a:rPr lang="en-US" b="1" dirty="0">
                <a:solidFill>
                  <a:srgbClr val="FF0000"/>
                </a:solidFill>
              </a:rPr>
              <a:t>T</a:t>
            </a:r>
            <a:r>
              <a:rPr lang="ro-RO" b="1" dirty="0" err="1">
                <a:solidFill>
                  <a:srgbClr val="FF0000"/>
                </a:solidFill>
              </a:rPr>
              <a:t>riunghiular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rezultat</a:t>
            </a:r>
            <a:r>
              <a:rPr lang="en-US" b="1" dirty="0">
                <a:solidFill>
                  <a:srgbClr val="FF0000"/>
                </a:solidFill>
              </a:rPr>
              <a:t> din </a:t>
            </a:r>
            <a:r>
              <a:rPr lang="ro-RO" b="1" dirty="0">
                <a:solidFill>
                  <a:srgbClr val="FF0000"/>
                </a:solidFill>
              </a:rPr>
              <a:t>Trigger-Schmitt</a:t>
            </a:r>
            <a:endParaRPr lang="en-US" dirty="0"/>
          </a:p>
        </p:txBody>
      </p:sp>
      <p:pic>
        <p:nvPicPr>
          <p:cNvPr id="5" name="Substituent conținut 4" descr="O imagine care conține text, diagramă, captură de ecran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3D728452-D2E2-C619-704D-3AC45393B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3384" y="1825625"/>
            <a:ext cx="8985231" cy="43513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319025FF-A0C1-EEDF-C3DE-EB2707056308}"/>
                  </a:ext>
                </a:extLst>
              </p14:cNvPr>
              <p14:cNvContentPartPr/>
              <p14:nvPr/>
            </p14:nvContentPartPr>
            <p14:xfrm>
              <a:off x="7872768" y="3428784"/>
              <a:ext cx="612000" cy="3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319025FF-A0C1-EEDF-C3DE-EB27070563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18768" y="3320784"/>
                <a:ext cx="71964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0955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278E96A-B503-57B5-BD0B-1E559FA5B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043" y="-288018"/>
            <a:ext cx="10515600" cy="1325563"/>
          </a:xfrm>
        </p:spPr>
        <p:txBody>
          <a:bodyPr/>
          <a:lstStyle/>
          <a:p>
            <a:r>
              <a:rPr kumimoji="0" lang="ro-RO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Semnalul </a:t>
            </a:r>
            <a:r>
              <a:rPr lang="en-US" sz="2800" b="1" dirty="0">
                <a:solidFill>
                  <a:srgbClr val="FF0000"/>
                </a:solidFill>
                <a:latin typeface="Aptos Display" panose="02110004020202020204"/>
              </a:rPr>
              <a:t>f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inal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dup</a:t>
            </a:r>
            <a:r>
              <a:rPr kumimoji="0" lang="ro-RO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ă însumarea semnalelor aferente</a:t>
            </a:r>
            <a:endParaRPr lang="en-US" dirty="0"/>
          </a:p>
        </p:txBody>
      </p:sp>
      <p:pic>
        <p:nvPicPr>
          <p:cNvPr id="9" name="Substituent conținut 8" descr="O imagine care conține text, scris de mână, scrisoare, Font&#10;&#10;Conținutul generat de inteligența artificială poate fi incorect.">
            <a:extLst>
              <a:ext uri="{FF2B5EF4-FFF2-40B4-BE49-F238E27FC236}">
                <a16:creationId xmlns:a16="http://schemas.microsoft.com/office/drawing/2014/main" id="{9E315F5B-91FF-5BAF-07A6-FAA606B3C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7939"/>
            <a:ext cx="5584371" cy="5571218"/>
          </a:xfrm>
          <a:prstGeom prst="rect">
            <a:avLst/>
          </a:prstGeom>
        </p:spPr>
      </p:pic>
      <p:pic>
        <p:nvPicPr>
          <p:cNvPr id="11" name="Imagine 10" descr="O imagine care conține diagramă, linie, Plan, Paralel&#10;&#10;Conținutul generat de inteligența artificială poate fi incorect.">
            <a:extLst>
              <a:ext uri="{FF2B5EF4-FFF2-40B4-BE49-F238E27FC236}">
                <a16:creationId xmlns:a16="http://schemas.microsoft.com/office/drawing/2014/main" id="{48DD6640-081E-662F-A436-7BFDA09E8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695" y="1564314"/>
            <a:ext cx="7809071" cy="192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03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BF6C24C-9ECC-8C85-B352-F5120C483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528" y="-329819"/>
            <a:ext cx="10515600" cy="1325563"/>
          </a:xfrm>
        </p:spPr>
        <p:txBody>
          <a:bodyPr>
            <a:normAutofit/>
          </a:bodyPr>
          <a:lstStyle/>
          <a:p>
            <a:r>
              <a:rPr lang="ro-RO" sz="3200" b="1" dirty="0">
                <a:solidFill>
                  <a:srgbClr val="FF0000"/>
                </a:solidFill>
              </a:rPr>
              <a:t>Semnalul </a:t>
            </a:r>
            <a:r>
              <a:rPr lang="en-US" sz="3200" b="1" dirty="0">
                <a:solidFill>
                  <a:srgbClr val="FF0000"/>
                </a:solidFill>
              </a:rPr>
              <a:t>final dup</a:t>
            </a:r>
            <a:r>
              <a:rPr lang="ro-RO" sz="3200" b="1" dirty="0">
                <a:solidFill>
                  <a:srgbClr val="FF0000"/>
                </a:solidFill>
              </a:rPr>
              <a:t>ă însumarea semnalelor aferente</a:t>
            </a:r>
            <a:endParaRPr lang="en-US" sz="3200" dirty="0"/>
          </a:p>
        </p:txBody>
      </p:sp>
      <p:pic>
        <p:nvPicPr>
          <p:cNvPr id="9" name="Substituent conținut 8">
            <a:extLst>
              <a:ext uri="{FF2B5EF4-FFF2-40B4-BE49-F238E27FC236}">
                <a16:creationId xmlns:a16="http://schemas.microsoft.com/office/drawing/2014/main" id="{C0291FC7-8439-A6C2-D80F-368ABCB21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7945"/>
          <a:stretch>
            <a:fillRect/>
          </a:stretch>
        </p:blipFill>
        <p:spPr>
          <a:xfrm>
            <a:off x="0" y="995744"/>
            <a:ext cx="2170515" cy="2419953"/>
          </a:xfrm>
          <a:prstGeom prst="rect">
            <a:avLst/>
          </a:prstGeom>
        </p:spPr>
      </p:pic>
      <p:pic>
        <p:nvPicPr>
          <p:cNvPr id="11" name="Imagine 10" descr="O imagine care conține text, captură de ecran, diagramă, proiectare&#10;&#10;Conținutul generat de inteligența artificială poate fi incorect.">
            <a:extLst>
              <a:ext uri="{FF2B5EF4-FFF2-40B4-BE49-F238E27FC236}">
                <a16:creationId xmlns:a16="http://schemas.microsoft.com/office/drawing/2014/main" id="{53608A05-2AFF-49D9-DA03-161A03FC1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992061"/>
            <a:ext cx="9609325" cy="48472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ABD50A73-AF3D-C2C8-B8C2-7B2BA80868CF}"/>
                  </a:ext>
                </a:extLst>
              </p14:cNvPr>
              <p14:cNvContentPartPr/>
              <p14:nvPr/>
            </p14:nvContentPartPr>
            <p14:xfrm>
              <a:off x="9399888" y="4635144"/>
              <a:ext cx="630360" cy="194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ABD50A73-AF3D-C2C8-B8C2-7B2BA80868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46248" y="4527504"/>
                <a:ext cx="7380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C3A58D3-8B0B-948D-B785-AF370DFBC5FB}"/>
                  </a:ext>
                </a:extLst>
              </p14:cNvPr>
              <p14:cNvContentPartPr/>
              <p14:nvPr/>
            </p14:nvContentPartPr>
            <p14:xfrm>
              <a:off x="4489488" y="4681584"/>
              <a:ext cx="4892760" cy="16369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C3A58D3-8B0B-948D-B785-AF370DFBC5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83368" y="4675464"/>
                <a:ext cx="4905000" cy="164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48BE38F3-D912-76E4-6759-4F9E6E9C72F3}"/>
                  </a:ext>
                </a:extLst>
              </p14:cNvPr>
              <p14:cNvContentPartPr/>
              <p14:nvPr/>
            </p14:nvContentPartPr>
            <p14:xfrm>
              <a:off x="9290088" y="4662864"/>
              <a:ext cx="161640" cy="1666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48BE38F3-D912-76E4-6759-4F9E6E9C72F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83968" y="4656744"/>
                <a:ext cx="173880" cy="17892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CasetăText 16">
            <a:extLst>
              <a:ext uri="{FF2B5EF4-FFF2-40B4-BE49-F238E27FC236}">
                <a16:creationId xmlns:a16="http://schemas.microsoft.com/office/drawing/2014/main" id="{FC19E6A5-7C36-B04D-99FE-23E117930B19}"/>
              </a:ext>
            </a:extLst>
          </p:cNvPr>
          <p:cNvSpPr txBox="1"/>
          <p:nvPr/>
        </p:nvSpPr>
        <p:spPr>
          <a:xfrm>
            <a:off x="191876" y="6318504"/>
            <a:ext cx="460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536.73 </a:t>
            </a:r>
            <a:r>
              <a:rPr lang="en-US" dirty="0" err="1"/>
              <a:t>ms</a:t>
            </a:r>
            <a:r>
              <a:rPr lang="en-US" dirty="0"/>
              <a:t> /3.5 </a:t>
            </a:r>
            <a:r>
              <a:rPr lang="en-US" dirty="0" err="1"/>
              <a:t>perioade</a:t>
            </a:r>
            <a:r>
              <a:rPr lang="en-US" dirty="0"/>
              <a:t>=153.3ms =&gt;150ms </a:t>
            </a:r>
          </a:p>
        </p:txBody>
      </p:sp>
    </p:spTree>
    <p:extLst>
      <p:ext uri="{BB962C8B-B14F-4D97-AF65-F5344CB8AC3E}">
        <p14:creationId xmlns:p14="http://schemas.microsoft.com/office/powerpoint/2010/main" val="758461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256FD71-6C00-2FD2-C44E-1D5E16E5B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237"/>
            <a:ext cx="10515600" cy="1325563"/>
          </a:xfrm>
        </p:spPr>
        <p:txBody>
          <a:bodyPr/>
          <a:lstStyle/>
          <a:p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Semnalul </a:t>
            </a:r>
            <a:r>
              <a:rPr lang="en-US" sz="3200" b="1" dirty="0">
                <a:solidFill>
                  <a:srgbClr val="FF0000"/>
                </a:solidFill>
                <a:latin typeface="Aptos Display" panose="02110004020202020204"/>
              </a:rPr>
              <a:t>f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inal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dup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ă însumarea semnalelor aferente</a:t>
            </a:r>
            <a:endParaRPr lang="en-US" dirty="0"/>
          </a:p>
        </p:txBody>
      </p:sp>
      <p:pic>
        <p:nvPicPr>
          <p:cNvPr id="5" name="Substituent conținut 4" descr="O imagine care conține text, captură de ecran, diagramă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C2BE4D0F-5528-6748-70AB-645FAEF52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375" y="1590104"/>
            <a:ext cx="10231250" cy="49421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E4348259-851E-D476-6CCF-65250A6DAD58}"/>
                  </a:ext>
                </a:extLst>
              </p14:cNvPr>
              <p14:cNvContentPartPr/>
              <p14:nvPr/>
            </p14:nvContentPartPr>
            <p14:xfrm>
              <a:off x="9546048" y="4791024"/>
              <a:ext cx="531000" cy="7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E4348259-851E-D476-6CCF-65250A6DAD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92048" y="4575744"/>
                <a:ext cx="6386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EA339DDA-1C40-01F7-CDF1-01D219B93821}"/>
                  </a:ext>
                </a:extLst>
              </p14:cNvPr>
              <p14:cNvContentPartPr/>
              <p14:nvPr/>
            </p14:nvContentPartPr>
            <p14:xfrm>
              <a:off x="9701568" y="2229264"/>
              <a:ext cx="720" cy="24253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EA339DDA-1C40-01F7-CDF1-01D219B938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89328" y="2223144"/>
                <a:ext cx="25200" cy="243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8E21581A-5EE3-2BAF-387D-BC30B8E6D6DC}"/>
                  </a:ext>
                </a:extLst>
              </p14:cNvPr>
              <p14:cNvContentPartPr/>
              <p14:nvPr/>
            </p14:nvContentPartPr>
            <p14:xfrm>
              <a:off x="9564048" y="4491144"/>
              <a:ext cx="128520" cy="1540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8E21581A-5EE3-2BAF-387D-BC30B8E6D6D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57928" y="4485024"/>
                <a:ext cx="14076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2FD5AEDF-9720-C160-C015-DA9EA3C2BB00}"/>
                  </a:ext>
                </a:extLst>
              </p14:cNvPr>
              <p14:cNvContentPartPr/>
              <p14:nvPr/>
            </p14:nvContentPartPr>
            <p14:xfrm>
              <a:off x="9710928" y="4469184"/>
              <a:ext cx="116640" cy="15804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2FD5AEDF-9720-C160-C015-DA9EA3C2BB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04808" y="4463064"/>
                <a:ext cx="128880" cy="17028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CasetăText 17">
            <a:extLst>
              <a:ext uri="{FF2B5EF4-FFF2-40B4-BE49-F238E27FC236}">
                <a16:creationId xmlns:a16="http://schemas.microsoft.com/office/drawing/2014/main" id="{F852C24C-7299-4216-DC77-E18E14D25926}"/>
              </a:ext>
            </a:extLst>
          </p:cNvPr>
          <p:cNvSpPr txBox="1"/>
          <p:nvPr/>
        </p:nvSpPr>
        <p:spPr>
          <a:xfrm>
            <a:off x="9710928" y="19202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9" name="CasetăText 18">
            <a:extLst>
              <a:ext uri="{FF2B5EF4-FFF2-40B4-BE49-F238E27FC236}">
                <a16:creationId xmlns:a16="http://schemas.microsoft.com/office/drawing/2014/main" id="{D45325E7-A183-E98F-528D-5B76D756E7A0}"/>
              </a:ext>
            </a:extLst>
          </p:cNvPr>
          <p:cNvSpPr txBox="1"/>
          <p:nvPr/>
        </p:nvSpPr>
        <p:spPr>
          <a:xfrm>
            <a:off x="9057602" y="1756440"/>
            <a:ext cx="2038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A=3.21, </a:t>
            </a:r>
            <a:r>
              <a:rPr lang="en-US" dirty="0" err="1"/>
              <a:t>aprox</a:t>
            </a:r>
            <a:r>
              <a:rPr lang="en-US" dirty="0"/>
              <a:t> 3.5V</a:t>
            </a:r>
          </a:p>
        </p:txBody>
      </p:sp>
    </p:spTree>
    <p:extLst>
      <p:ext uri="{BB962C8B-B14F-4D97-AF65-F5344CB8AC3E}">
        <p14:creationId xmlns:p14="http://schemas.microsoft.com/office/powerpoint/2010/main" val="3616154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20EE4FA-D365-B914-E687-700B92171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b="1" dirty="0">
                <a:solidFill>
                  <a:srgbClr val="FF0000"/>
                </a:solidFill>
              </a:rPr>
              <a:t>Semnalul </a:t>
            </a:r>
            <a:r>
              <a:rPr lang="en-US" sz="3200" b="1" dirty="0">
                <a:solidFill>
                  <a:srgbClr val="FF0000"/>
                </a:solidFill>
              </a:rPr>
              <a:t>final dup</a:t>
            </a:r>
            <a:r>
              <a:rPr lang="ro-RO" sz="3200" b="1" dirty="0">
                <a:solidFill>
                  <a:srgbClr val="FF0000"/>
                </a:solidFill>
              </a:rPr>
              <a:t>ă însumarea semnalelor aferente</a:t>
            </a:r>
            <a:endParaRPr lang="en-US" sz="3200" dirty="0"/>
          </a:p>
        </p:txBody>
      </p:sp>
      <p:pic>
        <p:nvPicPr>
          <p:cNvPr id="5" name="Substituent conținut 4" descr="O imagine care conține text, captură de ecran, diagramă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A2B88173-E7E0-8AED-66D5-1C9C75A04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8333" y="1825625"/>
            <a:ext cx="8955334" cy="43513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32B40550-78C3-3B56-604C-90A3D49A076A}"/>
                  </a:ext>
                </a:extLst>
              </p14:cNvPr>
              <p14:cNvContentPartPr/>
              <p14:nvPr/>
            </p14:nvContentPartPr>
            <p14:xfrm>
              <a:off x="7415568" y="4755024"/>
              <a:ext cx="502560" cy="3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32B40550-78C3-3B56-604C-90A3D49A07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61568" y="4647024"/>
                <a:ext cx="6102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924FF548-C7F6-2DF9-814C-C38D3829473A}"/>
                  </a:ext>
                </a:extLst>
              </p14:cNvPr>
              <p14:cNvContentPartPr/>
              <p14:nvPr/>
            </p14:nvContentPartPr>
            <p14:xfrm>
              <a:off x="5431608" y="4846104"/>
              <a:ext cx="1938600" cy="15364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924FF548-C7F6-2DF9-814C-C38D382947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25488" y="4839984"/>
                <a:ext cx="1950840" cy="154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upare 11">
            <a:extLst>
              <a:ext uri="{FF2B5EF4-FFF2-40B4-BE49-F238E27FC236}">
                <a16:creationId xmlns:a16="http://schemas.microsoft.com/office/drawing/2014/main" id="{80B653DB-5318-8393-F87D-83A8BA8158BF}"/>
              </a:ext>
            </a:extLst>
          </p:cNvPr>
          <p:cNvGrpSpPr/>
          <p:nvPr/>
        </p:nvGrpSpPr>
        <p:grpSpPr>
          <a:xfrm>
            <a:off x="7241328" y="4828104"/>
            <a:ext cx="208800" cy="127800"/>
            <a:chOff x="7241328" y="4828104"/>
            <a:chExt cx="208800" cy="12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Cerneală 9">
                  <a:extLst>
                    <a:ext uri="{FF2B5EF4-FFF2-40B4-BE49-F238E27FC236}">
                      <a16:creationId xmlns:a16="http://schemas.microsoft.com/office/drawing/2014/main" id="{525114ED-D672-7AFF-4E12-98964D75E1FF}"/>
                    </a:ext>
                  </a:extLst>
                </p14:cNvPr>
                <p14:cNvContentPartPr/>
                <p14:nvPr/>
              </p14:nvContentPartPr>
              <p14:xfrm>
                <a:off x="7241328" y="4836744"/>
                <a:ext cx="138240" cy="360"/>
              </p14:xfrm>
            </p:contentPart>
          </mc:Choice>
          <mc:Fallback xmlns="">
            <p:pic>
              <p:nvPicPr>
                <p:cNvPr id="10" name="Cerneală 9">
                  <a:extLst>
                    <a:ext uri="{FF2B5EF4-FFF2-40B4-BE49-F238E27FC236}">
                      <a16:creationId xmlns:a16="http://schemas.microsoft.com/office/drawing/2014/main" id="{525114ED-D672-7AFF-4E12-98964D75E1F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35208" y="4830624"/>
                  <a:ext cx="150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Cerneală 10">
                  <a:extLst>
                    <a:ext uri="{FF2B5EF4-FFF2-40B4-BE49-F238E27FC236}">
                      <a16:creationId xmlns:a16="http://schemas.microsoft.com/office/drawing/2014/main" id="{CEBA0FAA-D165-1195-B231-ADD0323B9EC9}"/>
                    </a:ext>
                  </a:extLst>
                </p14:cNvPr>
                <p14:cNvContentPartPr/>
                <p14:nvPr/>
              </p14:nvContentPartPr>
              <p14:xfrm>
                <a:off x="7387848" y="4828104"/>
                <a:ext cx="62280" cy="127800"/>
              </p14:xfrm>
            </p:contentPart>
          </mc:Choice>
          <mc:Fallback xmlns="">
            <p:pic>
              <p:nvPicPr>
                <p:cNvPr id="11" name="Cerneală 10">
                  <a:extLst>
                    <a:ext uri="{FF2B5EF4-FFF2-40B4-BE49-F238E27FC236}">
                      <a16:creationId xmlns:a16="http://schemas.microsoft.com/office/drawing/2014/main" id="{CEBA0FAA-D165-1195-B231-ADD0323B9E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81728" y="4821984"/>
                  <a:ext cx="74520" cy="140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CasetăText 12">
            <a:extLst>
              <a:ext uri="{FF2B5EF4-FFF2-40B4-BE49-F238E27FC236}">
                <a16:creationId xmlns:a16="http://schemas.microsoft.com/office/drawing/2014/main" id="{7407E59D-1DA8-66A9-9083-D8362F3E545F}"/>
              </a:ext>
            </a:extLst>
          </p:cNvPr>
          <p:cNvSpPr txBox="1"/>
          <p:nvPr/>
        </p:nvSpPr>
        <p:spPr>
          <a:xfrm>
            <a:off x="4544568" y="6308209"/>
            <a:ext cx="2136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Perioada</a:t>
            </a:r>
            <a:r>
              <a:rPr lang="en-US" dirty="0"/>
              <a:t> trapez= 2s</a:t>
            </a:r>
          </a:p>
        </p:txBody>
      </p:sp>
    </p:spTree>
    <p:extLst>
      <p:ext uri="{BB962C8B-B14F-4D97-AF65-F5344CB8AC3E}">
        <p14:creationId xmlns:p14="http://schemas.microsoft.com/office/powerpoint/2010/main" val="2078533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0E6AB96-61BC-31D8-D2B4-D659AE23F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b="1" dirty="0">
                <a:solidFill>
                  <a:srgbClr val="FF0000"/>
                </a:solidFill>
              </a:rPr>
              <a:t>Semnalul </a:t>
            </a:r>
            <a:r>
              <a:rPr lang="en-US" sz="3200" b="1" dirty="0">
                <a:solidFill>
                  <a:srgbClr val="FF0000"/>
                </a:solidFill>
              </a:rPr>
              <a:t>final dup</a:t>
            </a:r>
            <a:r>
              <a:rPr lang="ro-RO" sz="3200" b="1" dirty="0">
                <a:solidFill>
                  <a:srgbClr val="FF0000"/>
                </a:solidFill>
              </a:rPr>
              <a:t>ă însumarea semnalelor aferente</a:t>
            </a:r>
            <a:endParaRPr lang="en-US" sz="3200" dirty="0"/>
          </a:p>
        </p:txBody>
      </p:sp>
      <p:pic>
        <p:nvPicPr>
          <p:cNvPr id="5" name="Substituent conținut 4" descr="O imagine care conține text, captură de ecran, diagramă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89BF7712-BDAC-8F11-65AB-FDA69017E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1795" y="1690688"/>
            <a:ext cx="9017513" cy="43513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329F6F71-0A94-5A6A-B9F3-4735A3FAD07E}"/>
                  </a:ext>
                </a:extLst>
              </p14:cNvPr>
              <p14:cNvContentPartPr/>
              <p14:nvPr/>
            </p14:nvContentPartPr>
            <p14:xfrm>
              <a:off x="7955208" y="4873464"/>
              <a:ext cx="566280" cy="194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329F6F71-0A94-5A6A-B9F3-4735A3FAD0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01208" y="4765824"/>
                <a:ext cx="6739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C686718A-F935-898E-5176-C191A1893F88}"/>
                  </a:ext>
                </a:extLst>
              </p14:cNvPr>
              <p14:cNvContentPartPr/>
              <p14:nvPr/>
            </p14:nvContentPartPr>
            <p14:xfrm>
              <a:off x="7287408" y="4955904"/>
              <a:ext cx="713520" cy="15912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C686718A-F935-898E-5176-C191A1893F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81288" y="4949784"/>
                <a:ext cx="725760" cy="160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upare 10">
            <a:extLst>
              <a:ext uri="{FF2B5EF4-FFF2-40B4-BE49-F238E27FC236}">
                <a16:creationId xmlns:a16="http://schemas.microsoft.com/office/drawing/2014/main" id="{D1C777D8-6FCC-FCA3-CD4B-2E64F0483746}"/>
              </a:ext>
            </a:extLst>
          </p:cNvPr>
          <p:cNvGrpSpPr/>
          <p:nvPr/>
        </p:nvGrpSpPr>
        <p:grpSpPr>
          <a:xfrm>
            <a:off x="7842528" y="4974264"/>
            <a:ext cx="176760" cy="156240"/>
            <a:chOff x="7842528" y="4974264"/>
            <a:chExt cx="17676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Cerneală 8">
                  <a:extLst>
                    <a:ext uri="{FF2B5EF4-FFF2-40B4-BE49-F238E27FC236}">
                      <a16:creationId xmlns:a16="http://schemas.microsoft.com/office/drawing/2014/main" id="{BA210FB6-796F-3BBE-5437-118E03F92135}"/>
                    </a:ext>
                  </a:extLst>
                </p14:cNvPr>
                <p14:cNvContentPartPr/>
                <p14:nvPr/>
              </p14:nvContentPartPr>
              <p14:xfrm>
                <a:off x="7842528" y="4974264"/>
                <a:ext cx="122400" cy="99360"/>
              </p14:xfrm>
            </p:contentPart>
          </mc:Choice>
          <mc:Fallback xmlns="">
            <p:pic>
              <p:nvPicPr>
                <p:cNvPr id="9" name="Cerneală 8">
                  <a:extLst>
                    <a:ext uri="{FF2B5EF4-FFF2-40B4-BE49-F238E27FC236}">
                      <a16:creationId xmlns:a16="http://schemas.microsoft.com/office/drawing/2014/main" id="{BA210FB6-796F-3BBE-5437-118E03F9213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36408" y="4968144"/>
                  <a:ext cx="1346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Cerneală 9">
                  <a:extLst>
                    <a:ext uri="{FF2B5EF4-FFF2-40B4-BE49-F238E27FC236}">
                      <a16:creationId xmlns:a16="http://schemas.microsoft.com/office/drawing/2014/main" id="{DA7639A4-E8C3-E44D-ED3C-5158858480E3}"/>
                    </a:ext>
                  </a:extLst>
                </p14:cNvPr>
                <p14:cNvContentPartPr/>
                <p14:nvPr/>
              </p14:nvContentPartPr>
              <p14:xfrm>
                <a:off x="8002728" y="4983624"/>
                <a:ext cx="16560" cy="146880"/>
              </p14:xfrm>
            </p:contentPart>
          </mc:Choice>
          <mc:Fallback xmlns="">
            <p:pic>
              <p:nvPicPr>
                <p:cNvPr id="10" name="Cerneală 9">
                  <a:extLst>
                    <a:ext uri="{FF2B5EF4-FFF2-40B4-BE49-F238E27FC236}">
                      <a16:creationId xmlns:a16="http://schemas.microsoft.com/office/drawing/2014/main" id="{DA7639A4-E8C3-E44D-ED3C-5158858480E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96608" y="4977504"/>
                  <a:ext cx="28800" cy="159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CasetăText 11">
            <a:extLst>
              <a:ext uri="{FF2B5EF4-FFF2-40B4-BE49-F238E27FC236}">
                <a16:creationId xmlns:a16="http://schemas.microsoft.com/office/drawing/2014/main" id="{F69DC6DC-906F-301D-8F1B-BF6490FA7733}"/>
              </a:ext>
            </a:extLst>
          </p:cNvPr>
          <p:cNvSpPr txBox="1"/>
          <p:nvPr/>
        </p:nvSpPr>
        <p:spPr>
          <a:xfrm>
            <a:off x="6077316" y="6503731"/>
            <a:ext cx="2763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Perioada</a:t>
            </a:r>
            <a:r>
              <a:rPr lang="en-US" dirty="0"/>
              <a:t> </a:t>
            </a:r>
            <a:r>
              <a:rPr lang="en-US" dirty="0" err="1"/>
              <a:t>triunghi</a:t>
            </a:r>
            <a:r>
              <a:rPr lang="en-US" dirty="0"/>
              <a:t>= 150 </a:t>
            </a:r>
            <a:r>
              <a:rPr lang="en-US" dirty="0" err="1"/>
              <a:t>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8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CCCA17A-61C8-2158-49A7-F5A0673FA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7792" cy="5212715"/>
          </a:xfrm>
        </p:spPr>
        <p:txBody>
          <a:bodyPr/>
          <a:lstStyle/>
          <a:p>
            <a:pPr lvl="0" algn="ctr">
              <a:lnSpc>
                <a:spcPct val="10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PROIECT-</a:t>
            </a:r>
            <a:r>
              <a:rPr lang="en-CA" sz="5400" b="1" dirty="0">
                <a:solidFill>
                  <a:srgbClr val="FF0000"/>
                </a:solidFill>
                <a:latin typeface="Times New Roman" pitchFamily="18"/>
                <a:cs typeface="Times New Roman" pitchFamily="18"/>
              </a:rPr>
              <a:t>GENERATOARE</a:t>
            </a:r>
            <a:br>
              <a:rPr lang="en-CA" sz="5400" b="1" dirty="0">
                <a:solidFill>
                  <a:srgbClr val="FF0000"/>
                </a:solidFill>
                <a:latin typeface="Times New Roman" pitchFamily="18"/>
                <a:cs typeface="Times New Roman" pitchFamily="18"/>
              </a:rPr>
            </a:br>
            <a:r>
              <a:rPr lang="en-CA" sz="5400" b="1" dirty="0">
                <a:solidFill>
                  <a:srgbClr val="FF0000"/>
                </a:solidFill>
                <a:latin typeface="Times New Roman" pitchFamily="18"/>
                <a:cs typeface="Times New Roman" pitchFamily="18"/>
              </a:rPr>
              <a:t>CONVERTOR V/F CU FRECVEN</a:t>
            </a:r>
            <a:r>
              <a:rPr lang="ro-RO" sz="5400" b="1" dirty="0">
                <a:solidFill>
                  <a:srgbClr val="FF0000"/>
                </a:solidFill>
                <a:latin typeface="Times New Roman" pitchFamily="18"/>
                <a:cs typeface="Times New Roman" pitchFamily="18"/>
              </a:rPr>
              <a:t>ȚE ÎN DOMENIUL AUDIO</a:t>
            </a:r>
            <a:br>
              <a:rPr lang="en-CA" b="1" dirty="0">
                <a:latin typeface="Times New Roman" pitchFamily="18"/>
                <a:cs typeface="Times New Roman" pitchFamily="18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42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C6B63A2-64D8-30AC-24EC-99F5F6C22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Schema </a:t>
            </a:r>
            <a:r>
              <a:rPr lang="en-US" dirty="0" err="1">
                <a:solidFill>
                  <a:srgbClr val="FF0000"/>
                </a:solidFill>
              </a:rPr>
              <a:t>electrica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" name="Imagine 8" descr="O imagine care conține text, diagramă, Plan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869D0E4D-F64F-992C-FDBD-481B50E494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5" r="1864"/>
          <a:stretch>
            <a:fillRect/>
          </a:stretch>
        </p:blipFill>
        <p:spPr>
          <a:xfrm>
            <a:off x="713232" y="1380974"/>
            <a:ext cx="10640568" cy="511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63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B814178-D10E-A0A6-5950-8CC03AFC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expresia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perioadelor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1" name="Substituent conținut 10" descr="O imagine care conține text, diagramă, linie, scris de mână&#10;&#10;Conținutul generat de inteligența artificială poate fi incorect.">
            <a:extLst>
              <a:ext uri="{FF2B5EF4-FFF2-40B4-BE49-F238E27FC236}">
                <a16:creationId xmlns:a16="http://schemas.microsoft.com/office/drawing/2014/main" id="{31E559FC-CB16-B58C-3187-ED97698C4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95"/>
          <a:stretch>
            <a:fillRect/>
          </a:stretch>
        </p:blipFill>
        <p:spPr>
          <a:xfrm>
            <a:off x="1017815" y="2212848"/>
            <a:ext cx="6007003" cy="4321757"/>
          </a:xfrm>
          <a:prstGeom prst="rect">
            <a:avLst/>
          </a:prstGeom>
        </p:spPr>
      </p:pic>
      <p:pic>
        <p:nvPicPr>
          <p:cNvPr id="15" name="Imagine 14" descr="O imagine care conține text, scris de mână, Font, alb&#10;&#10;Conținutul generat de inteligența artificială poate fi incorect.">
            <a:extLst>
              <a:ext uri="{FF2B5EF4-FFF2-40B4-BE49-F238E27FC236}">
                <a16:creationId xmlns:a16="http://schemas.microsoft.com/office/drawing/2014/main" id="{2E839840-F844-3709-8F9A-21A88BB22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818" y="2605088"/>
            <a:ext cx="1812470" cy="148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19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A6F2895-65A0-FCFA-052C-E938A2105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 err="1">
                <a:solidFill>
                  <a:srgbClr val="FF0000"/>
                </a:solidFill>
              </a:rPr>
              <a:t>Dimensionare</a:t>
            </a:r>
            <a:endParaRPr lang="en-US" b="1" i="1" dirty="0">
              <a:solidFill>
                <a:srgbClr val="FF0000"/>
              </a:solidFill>
            </a:endParaRPr>
          </a:p>
        </p:txBody>
      </p:sp>
      <p:pic>
        <p:nvPicPr>
          <p:cNvPr id="5" name="Substituent conținut 4" descr="O imagine care conține text, scris de mână, Font, caligrafie&#10;&#10;Conținutul generat de inteligența artificială poate fi incorect.">
            <a:extLst>
              <a:ext uri="{FF2B5EF4-FFF2-40B4-BE49-F238E27FC236}">
                <a16:creationId xmlns:a16="http://schemas.microsoft.com/office/drawing/2014/main" id="{B0D0A5D6-4602-905F-DB9C-A2582101E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5959"/>
            <a:ext cx="2885489" cy="444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35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EEE95-E6C0-958C-464E-25878D25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AC4DA-D332-54F2-4CBD-2630C71A9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661" y="-56505"/>
            <a:ext cx="10515600" cy="1325563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3600" b="1" dirty="0" err="1">
                <a:solidFill>
                  <a:srgbClr val="FF0000"/>
                </a:solidFill>
              </a:rPr>
              <a:t>Amplitudine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semnal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dovedita</a:t>
            </a:r>
            <a:r>
              <a:rPr lang="en-US" sz="3600" b="1" dirty="0">
                <a:solidFill>
                  <a:srgbClr val="FF0000"/>
                </a:solidFill>
              </a:rPr>
              <a:t> in </a:t>
            </a:r>
            <a:r>
              <a:rPr lang="en-US" sz="3600" b="1" dirty="0" err="1">
                <a:solidFill>
                  <a:srgbClr val="FF0000"/>
                </a:solidFill>
              </a:rPr>
              <a:t>simulare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6B8095-F16F-D1DF-EEF5-F63E929C8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6203"/>
            <a:ext cx="12192000" cy="581179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900906-D717-2023-E675-4CD590D83BEF}"/>
              </a:ext>
            </a:extLst>
          </p:cNvPr>
          <p:cNvCxnSpPr>
            <a:cxnSpLocks/>
          </p:cNvCxnSpPr>
          <p:nvPr/>
        </p:nvCxnSpPr>
        <p:spPr>
          <a:xfrm>
            <a:off x="4671221" y="1614393"/>
            <a:ext cx="3933283" cy="203406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C5B040-59DB-8826-DA31-F0977CC28104}"/>
              </a:ext>
            </a:extLst>
          </p:cNvPr>
          <p:cNvCxnSpPr>
            <a:cxnSpLocks/>
          </p:cNvCxnSpPr>
          <p:nvPr/>
        </p:nvCxnSpPr>
        <p:spPr>
          <a:xfrm flipV="1">
            <a:off x="5504688" y="4023360"/>
            <a:ext cx="3099816" cy="197335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224E241-8CA7-F5A6-49EA-61C7648F787F}"/>
              </a:ext>
            </a:extLst>
          </p:cNvPr>
          <p:cNvSpPr txBox="1"/>
          <p:nvPr/>
        </p:nvSpPr>
        <p:spPr>
          <a:xfrm>
            <a:off x="4671221" y="1269058"/>
            <a:ext cx="14247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sz="1200" b="1" dirty="0"/>
              <a:t>PH</a:t>
            </a:r>
            <a:r>
              <a:rPr lang="en-US" sz="1200" b="1" dirty="0">
                <a:solidFill>
                  <a:srgbClr val="CDCDCD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=</a:t>
            </a:r>
            <a:r>
              <a:rPr 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</a:rPr>
              <a:t> </a:t>
            </a:r>
            <a:r>
              <a:rPr lang="en-US" dirty="0">
                <a:ln>
                  <a:solidFill>
                    <a:schemeClr val="tx1"/>
                  </a:solidFill>
                </a:ln>
              </a:rPr>
              <a:t>1.66V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BC8FAC-99D8-FA04-778A-1CC79AB51025}"/>
              </a:ext>
            </a:extLst>
          </p:cNvPr>
          <p:cNvSpPr txBox="1"/>
          <p:nvPr/>
        </p:nvSpPr>
        <p:spPr>
          <a:xfrm>
            <a:off x="5766849" y="5718295"/>
            <a:ext cx="149805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sz="1200" b="1" dirty="0"/>
              <a:t>PL</a:t>
            </a:r>
            <a:r>
              <a:rPr lang="en-US" sz="1200" b="1" dirty="0">
                <a:solidFill>
                  <a:srgbClr val="CDCDCD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= </a:t>
            </a:r>
            <a:r>
              <a:rPr lang="en-US" i="0" dirty="0">
                <a:ln>
                  <a:solidFill>
                    <a:schemeClr val="tx1"/>
                  </a:solidFill>
                </a:ln>
                <a:effectLst/>
                <a:latin typeface="Arial" panose="020B0604020202020204" pitchFamily="34" charset="0"/>
              </a:rPr>
              <a:t>-</a:t>
            </a:r>
            <a:r>
              <a:rPr lang="en-US" b="1" dirty="0"/>
              <a:t>1.66V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002525-F59F-D9C2-1F48-1571B95A67A5}"/>
              </a:ext>
            </a:extLst>
          </p:cNvPr>
          <p:cNvSpPr/>
          <p:nvPr/>
        </p:nvSpPr>
        <p:spPr>
          <a:xfrm>
            <a:off x="8604504" y="3566160"/>
            <a:ext cx="630936" cy="166665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0EC82E-654D-9EC5-02EA-7F31888625F4}"/>
              </a:ext>
            </a:extLst>
          </p:cNvPr>
          <p:cNvSpPr/>
          <p:nvPr/>
        </p:nvSpPr>
        <p:spPr>
          <a:xfrm>
            <a:off x="8604504" y="3932444"/>
            <a:ext cx="630936" cy="166665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2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4A350-DDEE-68EF-8897-C6A1A76F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7FACCF-5D83-B20F-B2A9-2C95738EB22D}"/>
                  </a:ext>
                </a:extLst>
              </p:cNvPr>
              <p:cNvSpPr txBox="1"/>
              <p:nvPr/>
            </p:nvSpPr>
            <p:spPr>
              <a:xfrm>
                <a:off x="2755360" y="213017"/>
                <a:ext cx="690420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o-RO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Frecvența de ieșire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32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32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𝐢𝐧</m:t>
                        </m:r>
                        <m:r>
                          <a:rPr lang="ro-RO" sz="32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ro-RO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𝟑𝐕</m:t>
                    </m:r>
                  </m:oMath>
                </a14:m>
                <a:r>
                  <a:rPr lang="ro-RO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7FACCF-5D83-B20F-B2A9-2C95738EB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360" y="213017"/>
                <a:ext cx="6904206" cy="584775"/>
              </a:xfrm>
              <a:prstGeom prst="rect">
                <a:avLst/>
              </a:prstGeom>
              <a:blipFill>
                <a:blip r:embed="rId2"/>
                <a:stretch>
                  <a:fillRect t="-14583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D51A22F-26BC-6A52-F415-243BE0DA4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0" y="1089672"/>
            <a:ext cx="12192000" cy="568449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D478D3-8F47-F8A7-D79F-C5C353C6EEC6}"/>
              </a:ext>
            </a:extLst>
          </p:cNvPr>
          <p:cNvCxnSpPr>
            <a:cxnSpLocks/>
          </p:cNvCxnSpPr>
          <p:nvPr/>
        </p:nvCxnSpPr>
        <p:spPr>
          <a:xfrm flipV="1">
            <a:off x="6528816" y="4518546"/>
            <a:ext cx="2467649" cy="530205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1C0F2CD-31EC-614C-8442-891BB171F813}"/>
              </a:ext>
            </a:extLst>
          </p:cNvPr>
          <p:cNvSpPr/>
          <p:nvPr/>
        </p:nvSpPr>
        <p:spPr>
          <a:xfrm>
            <a:off x="8996465" y="4453128"/>
            <a:ext cx="663101" cy="18288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FC36A4-5CA1-4C41-2CB6-65500843A541}"/>
              </a:ext>
            </a:extLst>
          </p:cNvPr>
          <p:cNvSpPr txBox="1"/>
          <p:nvPr/>
        </p:nvSpPr>
        <p:spPr>
          <a:xfrm>
            <a:off x="4796709" y="4864085"/>
            <a:ext cx="192413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f</a:t>
            </a:r>
            <a:r>
              <a:rPr lang="en-US" sz="1200" b="1" dirty="0" err="1"/>
              <a:t>out</a:t>
            </a:r>
            <a:r>
              <a:rPr lang="en-US" sz="1200" b="1" dirty="0">
                <a:solidFill>
                  <a:srgbClr val="CDCDCD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=</a:t>
            </a:r>
            <a:r>
              <a:rPr 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</a:rPr>
              <a:t> 3.946 kHz</a:t>
            </a:r>
            <a:endParaRPr lang="en-US" dirty="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97425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B842C-AEFC-0A47-4E21-5849651E4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6">
            <a:extLst>
              <a:ext uri="{FF2B5EF4-FFF2-40B4-BE49-F238E27FC236}">
                <a16:creationId xmlns:a16="http://schemas.microsoft.com/office/drawing/2014/main" id="{B01AAEA0-EADD-C7A3-2FCD-BDF5DF1E8FFC}"/>
              </a:ext>
            </a:extLst>
          </p:cNvPr>
          <p:cNvSpPr txBox="1"/>
          <p:nvPr/>
        </p:nvSpPr>
        <p:spPr>
          <a:xfrm>
            <a:off x="392186" y="338237"/>
            <a:ext cx="11213076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o-MD" sz="3200" b="1" i="0" strike="noStrike" kern="1200" cap="none" spc="0" baseline="0" dirty="0">
                <a:solidFill>
                  <a:srgbClr val="FF0000"/>
                </a:solidFill>
                <a:uFillTx/>
                <a:latin typeface="Aptos"/>
              </a:rPr>
              <a:t>Tensiunea de ieșire a comparatorului de fereastră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7B7623-B3D3-1C31-8B19-F3FF9BF05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1523"/>
            <a:ext cx="12192000" cy="565647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15349C-66D7-3E18-0154-3DA0FF29547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547872" y="2724912"/>
            <a:ext cx="7173176" cy="283081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876C3F-35BB-DB4B-DC6A-167E68494F68}"/>
                  </a:ext>
                </a:extLst>
              </p:cNvPr>
              <p:cNvSpPr txBox="1"/>
              <p:nvPr/>
            </p:nvSpPr>
            <p:spPr>
              <a:xfrm>
                <a:off x="3547872" y="2355580"/>
                <a:ext cx="5384257" cy="369332"/>
              </a:xfrm>
              <a:prstGeom prst="rect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𝒐𝒖𝒕</m:t>
                        </m:r>
                      </m:sub>
                    </m:sSub>
                    <m:r>
                      <a:rPr lang="en-GB" b="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b="1" i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𝑶𝑯</m:t>
                        </m:r>
                      </m:sub>
                    </m:sSub>
                    <m:r>
                      <a:rPr lang="en-GB" b="0" i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b="0" i="1">
                        <a:latin typeface="Cambria Math" panose="02040503050406030204" pitchFamily="18" charset="0"/>
                      </a:rPr>
                      <m:t>𝑑𝑎𝑐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ă</m:t>
                    </m:r>
                  </m:oMath>
                </a14:m>
                <a:r>
                  <a:rPr lang="ro-RO" sz="1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Apto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𝒐𝒖𝒕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nor/>
                      </m:rPr>
                      <a:rPr lang="ro-RO" b="1" dirty="0">
                        <a:solidFill>
                          <a:srgbClr val="000000"/>
                        </a:solidFill>
                      </a:rPr>
                      <m:t>= </m:t>
                    </m:r>
                    <m:sSub>
                      <m:sSubPr>
                        <m:ctrlPr>
                          <a:rPr lang="en-GB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GB" b="0" i="1">
                            <a:latin typeface="Cambria Math" panose="02040503050406030204" pitchFamily="18" charset="0"/>
                          </a:rPr>
                          <m:t>𝑂𝐻</m:t>
                        </m:r>
                      </m:sub>
                    </m:sSub>
                    <m:r>
                      <a:rPr lang="en-GB">
                        <a:latin typeface="Cambria Math" panose="02040503050406030204" pitchFamily="18" charset="0"/>
                      </a:rPr>
                      <m:t>⇨</m:t>
                    </m:r>
                    <m:sSub>
                      <m:sSub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b="1" dirty="0" err="1"/>
                  <a:t>va</a:t>
                </a:r>
                <a:r>
                  <a:rPr lang="en-US" b="1" dirty="0"/>
                  <a:t> </a:t>
                </a:r>
                <a:r>
                  <a:rPr lang="en-US" b="1" dirty="0" err="1"/>
                  <a:t>creste</a:t>
                </a:r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876C3F-35BB-DB4B-DC6A-167E68494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872" y="2355580"/>
                <a:ext cx="5384257" cy="369332"/>
              </a:xfrm>
              <a:prstGeom prst="rect">
                <a:avLst/>
              </a:prstGeom>
              <a:blipFill>
                <a:blip r:embed="rId4"/>
                <a:stretch>
                  <a:fillRect t="-4688" b="-21875"/>
                </a:stretch>
              </a:blipFill>
              <a:ln w="1905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A4E8F7-F33C-5464-D348-D60FA7E4BAD1}"/>
              </a:ext>
            </a:extLst>
          </p:cNvPr>
          <p:cNvCxnSpPr>
            <a:cxnSpLocks/>
          </p:cNvCxnSpPr>
          <p:nvPr/>
        </p:nvCxnSpPr>
        <p:spPr>
          <a:xfrm>
            <a:off x="5029200" y="4800600"/>
            <a:ext cx="5691848" cy="1145082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08BE26-A037-1114-5A42-C1F5E6259277}"/>
                  </a:ext>
                </a:extLst>
              </p:cNvPr>
              <p:cNvSpPr txBox="1"/>
              <p:nvPr/>
            </p:nvSpPr>
            <p:spPr>
              <a:xfrm>
                <a:off x="336124" y="4970766"/>
                <a:ext cx="5097294" cy="369332"/>
              </a:xfrm>
              <a:prstGeom prst="rect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𝐨𝐮𝐭</m:t>
                        </m:r>
                      </m:sub>
                    </m:sSub>
                    <m:r>
                      <a:rPr lang="en-GB" b="0" i="0">
                        <a:latin typeface="Cambria Math" panose="02040503050406030204" pitchFamily="18" charset="0"/>
                      </a:rPr>
                      <m:t>≈−</m:t>
                    </m:r>
                    <m:r>
                      <a:rPr lang="en-GB" b="1" i="0">
                        <a:latin typeface="Cambria Math" panose="02040503050406030204" pitchFamily="18" charset="0"/>
                      </a:rPr>
                      <m:t>𝟓𝐕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𝐎𝐋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dac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ă</m:t>
                    </m:r>
                  </m:oMath>
                </a14:m>
                <a:r>
                  <a:rPr lang="ro-RO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𝐨𝐮𝐭</m:t>
                        </m:r>
                      </m:sub>
                    </m:sSub>
                  </m:oMath>
                </a14:m>
                <a:r>
                  <a:rPr lang="ro-RO" b="1" dirty="0">
                    <a:solidFill>
                      <a:srgbClr val="000000"/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0">
                            <a:latin typeface="Cambria Math" panose="02040503050406030204" pitchFamily="18" charset="0"/>
                          </a:rPr>
                          <m:t>OL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⇨</m:t>
                    </m:r>
                    <m:sSub>
                      <m:sSub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𝐯𝐚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𝐬𝐜𝐚𝐝𝐞</m:t>
                    </m:r>
                  </m:oMath>
                </a14:m>
                <a:r>
                  <a:rPr lang="ro-RO" b="1" dirty="0">
                    <a:solidFill>
                      <a:srgbClr val="000000"/>
                    </a:solidFill>
                  </a:rPr>
                  <a:t> </a:t>
                </a:r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08BE26-A037-1114-5A42-C1F5E6259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24" y="4970766"/>
                <a:ext cx="5097294" cy="369332"/>
              </a:xfrm>
              <a:prstGeom prst="rect">
                <a:avLst/>
              </a:prstGeom>
              <a:blipFill>
                <a:blip r:embed="rId5"/>
                <a:stretch>
                  <a:fillRect t="-4688" b="-21875"/>
                </a:stretch>
              </a:blipFill>
              <a:ln w="1905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C59C3AD3-0C86-8858-0757-6268791DD3D1}"/>
              </a:ext>
            </a:extLst>
          </p:cNvPr>
          <p:cNvSpPr/>
          <p:nvPr/>
        </p:nvSpPr>
        <p:spPr>
          <a:xfrm>
            <a:off x="10721048" y="5464287"/>
            <a:ext cx="663101" cy="18288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DEAE4F-21DD-C73E-7E28-1097C30BF492}"/>
              </a:ext>
            </a:extLst>
          </p:cNvPr>
          <p:cNvSpPr/>
          <p:nvPr/>
        </p:nvSpPr>
        <p:spPr>
          <a:xfrm>
            <a:off x="10721048" y="5854242"/>
            <a:ext cx="663101" cy="18288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60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630985-8304-9565-B4C6-9B466E181B41}"/>
              </a:ext>
            </a:extLst>
          </p:cNvPr>
          <p:cNvSpPr txBox="1"/>
          <p:nvPr/>
        </p:nvSpPr>
        <p:spPr>
          <a:xfrm>
            <a:off x="843062" y="214008"/>
            <a:ext cx="105058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valorile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nominale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rezistentelor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E24</a:t>
            </a:r>
            <a:endParaRPr lang="ro-RO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1F83FB-9B11-C401-BC13-E08DF4312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862" y="890134"/>
            <a:ext cx="8378272" cy="46776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18B2D9-9618-018E-9C29-521192F18139}"/>
              </a:ext>
            </a:extLst>
          </p:cNvPr>
          <p:cNvSpPr txBox="1"/>
          <p:nvPr/>
        </p:nvSpPr>
        <p:spPr>
          <a:xfrm>
            <a:off x="3895341" y="5720662"/>
            <a:ext cx="4401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Modificam</a:t>
            </a:r>
            <a:r>
              <a:rPr lang="en-US" dirty="0"/>
              <a:t> </a:t>
            </a:r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rezistentelor</a:t>
            </a:r>
            <a:r>
              <a:rPr lang="en-US" dirty="0"/>
              <a:t> R</a:t>
            </a:r>
            <a:r>
              <a:rPr lang="en-US" sz="1050" dirty="0"/>
              <a:t>5</a:t>
            </a:r>
            <a:r>
              <a:rPr lang="en-US" dirty="0"/>
              <a:t>, R</a:t>
            </a:r>
            <a:r>
              <a:rPr lang="en-US" sz="1050" dirty="0"/>
              <a:t>1</a:t>
            </a:r>
            <a:r>
              <a:rPr lang="en-US" dirty="0"/>
              <a:t>, R</a:t>
            </a:r>
            <a:r>
              <a:rPr lang="en-US" sz="1050" dirty="0"/>
              <a:t>2 </a:t>
            </a:r>
            <a:r>
              <a:rPr lang="en-US" dirty="0"/>
              <a:t>:</a:t>
            </a:r>
          </a:p>
          <a:p>
            <a:r>
              <a:rPr lang="en-US" dirty="0"/>
              <a:t>R</a:t>
            </a:r>
            <a:r>
              <a:rPr lang="en-US" sz="1050" dirty="0"/>
              <a:t>5</a:t>
            </a:r>
            <a:r>
              <a:rPr lang="en-US" dirty="0"/>
              <a:t>: 5.5k </a:t>
            </a:r>
            <a:r>
              <a:rPr lang="en-US" dirty="0">
                <a:sym typeface="Wingdings" panose="05000000000000000000" pitchFamily="2" charset="2"/>
              </a:rPr>
              <a:t> 5.6k</a:t>
            </a:r>
            <a:endParaRPr lang="en-US" sz="1050" dirty="0"/>
          </a:p>
          <a:p>
            <a:r>
              <a:rPr lang="en-US" dirty="0"/>
              <a:t>R</a:t>
            </a:r>
            <a:r>
              <a:rPr lang="en-US" sz="1050" dirty="0"/>
              <a:t>1</a:t>
            </a:r>
            <a:r>
              <a:rPr lang="en-US" dirty="0"/>
              <a:t>, R</a:t>
            </a:r>
            <a:r>
              <a:rPr lang="en-US" sz="1050" dirty="0"/>
              <a:t>2 </a:t>
            </a:r>
            <a:r>
              <a:rPr lang="en-US" dirty="0"/>
              <a:t>: 70k </a:t>
            </a:r>
            <a:r>
              <a:rPr lang="en-US" dirty="0">
                <a:sym typeface="Wingdings" panose="05000000000000000000" pitchFamily="2" charset="2"/>
              </a:rPr>
              <a:t> 68k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03689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167EA-A92D-A1E0-98BA-2BE8DB6C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A48932-D483-8BC6-A1A1-A301B5E04528}"/>
              </a:ext>
            </a:extLst>
          </p:cNvPr>
          <p:cNvSpPr txBox="1"/>
          <p:nvPr/>
        </p:nvSpPr>
        <p:spPr>
          <a:xfrm>
            <a:off x="1473741" y="10774"/>
            <a:ext cx="9338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o-MD" sz="2400" b="1" i="0" strike="noStrike" kern="1200" cap="none" spc="0" baseline="0" dirty="0">
                <a:solidFill>
                  <a:srgbClr val="FF0000"/>
                </a:solidFill>
                <a:uFillTx/>
                <a:latin typeface="Aptos"/>
              </a:rPr>
              <a:t>Amplitudinea semnalului triunghiular dovedită prin simulare</a:t>
            </a:r>
          </a:p>
        </p:txBody>
      </p:sp>
      <p:sp>
        <p:nvSpPr>
          <p:cNvPr id="34" name="TextBox 47">
            <a:extLst>
              <a:ext uri="{FF2B5EF4-FFF2-40B4-BE49-F238E27FC236}">
                <a16:creationId xmlns:a16="http://schemas.microsoft.com/office/drawing/2014/main" id="{B6367324-6DDB-3FDF-B50B-8B009F312A60}"/>
              </a:ext>
            </a:extLst>
          </p:cNvPr>
          <p:cNvSpPr txBox="1"/>
          <p:nvPr/>
        </p:nvSpPr>
        <p:spPr>
          <a:xfrm>
            <a:off x="499349" y="502617"/>
            <a:ext cx="5095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o-MD" sz="1800" b="1" i="0" u="sng" strike="noStrike" kern="1200" cap="none" spc="0" baseline="0" dirty="0">
                <a:solidFill>
                  <a:srgbClr val="00B050"/>
                </a:solidFill>
                <a:uFillTx/>
                <a:latin typeface="Aptos"/>
              </a:rPr>
              <a:t> </a:t>
            </a:r>
            <a:r>
              <a:rPr lang="en-GB" b="1" u="sng" dirty="0">
                <a:solidFill>
                  <a:srgbClr val="00B050"/>
                </a:solidFill>
                <a:latin typeface="Aptos"/>
              </a:rPr>
              <a:t>Cu </a:t>
            </a:r>
            <a:r>
              <a:rPr lang="en-GB" b="1" u="sng" dirty="0" err="1">
                <a:solidFill>
                  <a:srgbClr val="00B050"/>
                </a:solidFill>
                <a:latin typeface="Aptos"/>
              </a:rPr>
              <a:t>valori</a:t>
            </a:r>
            <a:r>
              <a:rPr lang="en-GB" b="1" u="sng" dirty="0">
                <a:solidFill>
                  <a:srgbClr val="00B050"/>
                </a:solidFill>
                <a:latin typeface="Aptos"/>
              </a:rPr>
              <a:t> </a:t>
            </a:r>
            <a:r>
              <a:rPr lang="ro-RO" b="1" u="sng" dirty="0">
                <a:solidFill>
                  <a:srgbClr val="00B050"/>
                </a:solidFill>
                <a:latin typeface="Aptos"/>
              </a:rPr>
              <a:t>matematice</a:t>
            </a:r>
            <a:endParaRPr lang="ro-MD" sz="1800" b="1" i="0" u="sng" strike="noStrike" kern="1200" cap="none" spc="0" baseline="0" dirty="0">
              <a:solidFill>
                <a:srgbClr val="00B050"/>
              </a:solidFill>
              <a:uFillTx/>
              <a:latin typeface="Aptos"/>
            </a:endParaRPr>
          </a:p>
        </p:txBody>
      </p:sp>
      <p:sp>
        <p:nvSpPr>
          <p:cNvPr id="37" name="TextBox 47">
            <a:extLst>
              <a:ext uri="{FF2B5EF4-FFF2-40B4-BE49-F238E27FC236}">
                <a16:creationId xmlns:a16="http://schemas.microsoft.com/office/drawing/2014/main" id="{2CABF2BC-77F7-A7FF-40A0-9A8B9367877B}"/>
              </a:ext>
            </a:extLst>
          </p:cNvPr>
          <p:cNvSpPr txBox="1"/>
          <p:nvPr/>
        </p:nvSpPr>
        <p:spPr>
          <a:xfrm>
            <a:off x="6454092" y="515886"/>
            <a:ext cx="5095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o-MD" sz="1800" b="1" i="0" u="sng" strike="noStrike" kern="1200" cap="none" spc="0" baseline="0" dirty="0">
                <a:solidFill>
                  <a:srgbClr val="00B050"/>
                </a:solidFill>
                <a:uFillTx/>
                <a:latin typeface="Aptos"/>
              </a:rPr>
              <a:t> </a:t>
            </a:r>
            <a:r>
              <a:rPr lang="en-GB" b="1" u="sng" dirty="0">
                <a:solidFill>
                  <a:srgbClr val="00B050"/>
                </a:solidFill>
                <a:latin typeface="Aptos"/>
              </a:rPr>
              <a:t>Cu </a:t>
            </a:r>
            <a:r>
              <a:rPr lang="en-GB" b="1" u="sng" dirty="0" err="1">
                <a:solidFill>
                  <a:srgbClr val="00B050"/>
                </a:solidFill>
                <a:latin typeface="Aptos"/>
              </a:rPr>
              <a:t>valori</a:t>
            </a:r>
            <a:r>
              <a:rPr lang="en-GB" b="1" u="sng" dirty="0">
                <a:solidFill>
                  <a:srgbClr val="00B050"/>
                </a:solidFill>
                <a:latin typeface="Aptos"/>
              </a:rPr>
              <a:t> </a:t>
            </a:r>
            <a:r>
              <a:rPr lang="en-GB" b="1" u="sng" dirty="0" err="1">
                <a:solidFill>
                  <a:srgbClr val="00B050"/>
                </a:solidFill>
                <a:latin typeface="Aptos"/>
              </a:rPr>
              <a:t>nominale</a:t>
            </a:r>
            <a:r>
              <a:rPr lang="en-US" b="1" u="sng" dirty="0">
                <a:solidFill>
                  <a:srgbClr val="00B050"/>
                </a:solidFill>
                <a:latin typeface="Aptos"/>
              </a:rPr>
              <a:t> E24</a:t>
            </a:r>
            <a:endParaRPr lang="ro-MD" sz="1800" b="1" i="0" u="sng" strike="noStrike" kern="1200" cap="none" spc="0" baseline="0" dirty="0">
              <a:solidFill>
                <a:srgbClr val="00B050"/>
              </a:solidFill>
              <a:uFillTx/>
              <a:latin typeface="Apto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A0CE0-C21C-FFB6-2941-968597E3D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472" y="1175894"/>
            <a:ext cx="3834823" cy="2710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56E3E1-F8FC-D214-1CCA-16136C169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705" y="1361787"/>
            <a:ext cx="3616968" cy="252471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D4DC72-43F3-5F64-15D6-290EB70909DA}"/>
              </a:ext>
            </a:extLst>
          </p:cNvPr>
          <p:cNvCxnSpPr>
            <a:cxnSpLocks/>
          </p:cNvCxnSpPr>
          <p:nvPr/>
        </p:nvCxnSpPr>
        <p:spPr>
          <a:xfrm flipV="1">
            <a:off x="2889029" y="2386584"/>
            <a:ext cx="655791" cy="192146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4C98C77-5C09-7232-F534-77B2B6E90127}"/>
              </a:ext>
            </a:extLst>
          </p:cNvPr>
          <p:cNvSpPr txBox="1"/>
          <p:nvPr/>
        </p:nvSpPr>
        <p:spPr>
          <a:xfrm>
            <a:off x="1531781" y="4133846"/>
            <a:ext cx="149805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sz="1200" b="1" dirty="0"/>
              <a:t>PH</a:t>
            </a:r>
            <a:r>
              <a:rPr lang="en-US" sz="1200" b="1" dirty="0">
                <a:solidFill>
                  <a:srgbClr val="CDCDCD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=</a:t>
            </a:r>
            <a:r>
              <a:rPr 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</a:rPr>
              <a:t> </a:t>
            </a:r>
            <a:r>
              <a:rPr lang="en-US" dirty="0">
                <a:ln>
                  <a:solidFill>
                    <a:schemeClr val="tx1"/>
                  </a:solidFill>
                </a:ln>
              </a:rPr>
              <a:t>1.661V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3712D9-2893-41C4-DE45-12B8C6BCAA6A}"/>
              </a:ext>
            </a:extLst>
          </p:cNvPr>
          <p:cNvSpPr/>
          <p:nvPr/>
        </p:nvSpPr>
        <p:spPr>
          <a:xfrm>
            <a:off x="3544823" y="2151574"/>
            <a:ext cx="1310849" cy="23501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931A75-5070-43E1-EA22-5E6B77277FE8}"/>
              </a:ext>
            </a:extLst>
          </p:cNvPr>
          <p:cNvSpPr/>
          <p:nvPr/>
        </p:nvSpPr>
        <p:spPr>
          <a:xfrm>
            <a:off x="3544822" y="2832069"/>
            <a:ext cx="1310849" cy="23501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6E0050-3F0A-7CD7-A205-2068773152C0}"/>
              </a:ext>
            </a:extLst>
          </p:cNvPr>
          <p:cNvSpPr txBox="1"/>
          <p:nvPr/>
        </p:nvSpPr>
        <p:spPr>
          <a:xfrm>
            <a:off x="1473741" y="4726632"/>
            <a:ext cx="155609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sz="1200" b="1" dirty="0"/>
              <a:t>PL</a:t>
            </a:r>
            <a:r>
              <a:rPr lang="en-US" sz="1200" b="1" dirty="0">
                <a:solidFill>
                  <a:srgbClr val="CDCDCD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= </a:t>
            </a:r>
            <a:r>
              <a:rPr lang="en-US" i="0" dirty="0">
                <a:ln>
                  <a:solidFill>
                    <a:schemeClr val="tx1"/>
                  </a:solidFill>
                </a:ln>
                <a:effectLst/>
                <a:latin typeface="Arial" panose="020B0604020202020204" pitchFamily="34" charset="0"/>
              </a:rPr>
              <a:t>-</a:t>
            </a:r>
            <a:r>
              <a:rPr lang="en-US" b="1" dirty="0"/>
              <a:t>1.663V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9FFD1E-4944-7ED9-BEF2-DA2F7D9475C7}"/>
              </a:ext>
            </a:extLst>
          </p:cNvPr>
          <p:cNvCxnSpPr>
            <a:cxnSpLocks/>
          </p:cNvCxnSpPr>
          <p:nvPr/>
        </p:nvCxnSpPr>
        <p:spPr>
          <a:xfrm flipV="1">
            <a:off x="2889026" y="3067079"/>
            <a:ext cx="655794" cy="184421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7C50C0-711A-137E-75D9-1088FFF2D850}"/>
              </a:ext>
            </a:extLst>
          </p:cNvPr>
          <p:cNvCxnSpPr>
            <a:cxnSpLocks/>
          </p:cNvCxnSpPr>
          <p:nvPr/>
        </p:nvCxnSpPr>
        <p:spPr>
          <a:xfrm flipV="1">
            <a:off x="8845651" y="2283896"/>
            <a:ext cx="655791" cy="192146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434F676-A0C4-F552-DF0A-7FAE2DD59AE8}"/>
              </a:ext>
            </a:extLst>
          </p:cNvPr>
          <p:cNvSpPr txBox="1"/>
          <p:nvPr/>
        </p:nvSpPr>
        <p:spPr>
          <a:xfrm>
            <a:off x="7488403" y="4031158"/>
            <a:ext cx="149805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sz="1200" b="1" dirty="0"/>
              <a:t>PH</a:t>
            </a:r>
            <a:r>
              <a:rPr lang="en-US" sz="1200" b="1" dirty="0">
                <a:solidFill>
                  <a:srgbClr val="CDCDCD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=</a:t>
            </a:r>
            <a:r>
              <a:rPr 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</a:rPr>
              <a:t> </a:t>
            </a:r>
            <a:r>
              <a:rPr lang="en-US" dirty="0">
                <a:ln>
                  <a:solidFill>
                    <a:schemeClr val="tx1"/>
                  </a:solidFill>
                </a:ln>
              </a:rPr>
              <a:t>1.666V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B0BDE1B-70ED-80CD-C848-FA4261E3304B}"/>
              </a:ext>
            </a:extLst>
          </p:cNvPr>
          <p:cNvSpPr/>
          <p:nvPr/>
        </p:nvSpPr>
        <p:spPr>
          <a:xfrm>
            <a:off x="9501445" y="2048886"/>
            <a:ext cx="1310849" cy="23501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4645BC3-29DA-DF53-C82E-8353DA4A598A}"/>
              </a:ext>
            </a:extLst>
          </p:cNvPr>
          <p:cNvSpPr/>
          <p:nvPr/>
        </p:nvSpPr>
        <p:spPr>
          <a:xfrm>
            <a:off x="9501444" y="2729381"/>
            <a:ext cx="1310849" cy="23501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64252F-5BE0-B445-A00B-353D1D8F6BC2}"/>
              </a:ext>
            </a:extLst>
          </p:cNvPr>
          <p:cNvSpPr txBox="1"/>
          <p:nvPr/>
        </p:nvSpPr>
        <p:spPr>
          <a:xfrm>
            <a:off x="7430363" y="4623944"/>
            <a:ext cx="155609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sz="1200" b="1" dirty="0"/>
              <a:t>PL</a:t>
            </a:r>
            <a:r>
              <a:rPr lang="en-US" sz="1200" b="1" dirty="0">
                <a:solidFill>
                  <a:srgbClr val="CDCDCD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= </a:t>
            </a:r>
            <a:r>
              <a:rPr lang="en-US" i="0" dirty="0">
                <a:ln>
                  <a:solidFill>
                    <a:schemeClr val="tx1"/>
                  </a:solidFill>
                </a:ln>
                <a:effectLst/>
                <a:latin typeface="Arial" panose="020B0604020202020204" pitchFamily="34" charset="0"/>
              </a:rPr>
              <a:t>-</a:t>
            </a:r>
            <a:r>
              <a:rPr lang="en-US" b="1" dirty="0"/>
              <a:t>1.643V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4867580-1B45-3A6F-303A-FFEEB0CF64F4}"/>
              </a:ext>
            </a:extLst>
          </p:cNvPr>
          <p:cNvCxnSpPr>
            <a:cxnSpLocks/>
          </p:cNvCxnSpPr>
          <p:nvPr/>
        </p:nvCxnSpPr>
        <p:spPr>
          <a:xfrm flipV="1">
            <a:off x="8845648" y="2964391"/>
            <a:ext cx="655794" cy="184421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026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FA86D-13DD-0F22-E183-4F257B704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6">
            <a:extLst>
              <a:ext uri="{FF2B5EF4-FFF2-40B4-BE49-F238E27FC236}">
                <a16:creationId xmlns:a16="http://schemas.microsoft.com/office/drawing/2014/main" id="{74F12055-1B0E-56F1-C6B7-0D60B79F2686}"/>
              </a:ext>
            </a:extLst>
          </p:cNvPr>
          <p:cNvSpPr txBox="1"/>
          <p:nvPr/>
        </p:nvSpPr>
        <p:spPr>
          <a:xfrm>
            <a:off x="379379" y="75589"/>
            <a:ext cx="11243304" cy="46166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o-MD" sz="2400" b="1" i="0" strike="noStrike" kern="1200" cap="none" spc="0" baseline="0" dirty="0">
                <a:solidFill>
                  <a:srgbClr val="FF0000"/>
                </a:solidFill>
                <a:uFillTx/>
                <a:latin typeface="Aptos"/>
              </a:rPr>
              <a:t> Tensiunea de ieșire a comparatorului de fereastră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5ADC83-7E70-81A3-203F-F73EE9ABEAFC}"/>
              </a:ext>
            </a:extLst>
          </p:cNvPr>
          <p:cNvSpPr txBox="1"/>
          <p:nvPr/>
        </p:nvSpPr>
        <p:spPr>
          <a:xfrm>
            <a:off x="1718662" y="595868"/>
            <a:ext cx="2483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>
                <a:solidFill>
                  <a:srgbClr val="00B050"/>
                </a:solidFill>
                <a:latin typeface="Aptos"/>
              </a:rPr>
              <a:t>Cu </a:t>
            </a:r>
            <a:r>
              <a:rPr lang="en-GB" b="1" u="sng" dirty="0" err="1">
                <a:solidFill>
                  <a:srgbClr val="00B050"/>
                </a:solidFill>
                <a:latin typeface="Aptos"/>
              </a:rPr>
              <a:t>valori</a:t>
            </a:r>
            <a:r>
              <a:rPr lang="en-GB" b="1" u="sng" dirty="0">
                <a:solidFill>
                  <a:srgbClr val="00B050"/>
                </a:solidFill>
                <a:latin typeface="Aptos"/>
              </a:rPr>
              <a:t> </a:t>
            </a:r>
            <a:r>
              <a:rPr lang="ro-RO" b="1" u="sng" dirty="0">
                <a:solidFill>
                  <a:srgbClr val="00B050"/>
                </a:solidFill>
                <a:latin typeface="Aptos"/>
              </a:rPr>
              <a:t>matematice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2C5DB1-3FD4-3AA7-CD9A-DDD68BFA96B9}"/>
              </a:ext>
            </a:extLst>
          </p:cNvPr>
          <p:cNvSpPr txBox="1"/>
          <p:nvPr/>
        </p:nvSpPr>
        <p:spPr>
          <a:xfrm>
            <a:off x="8104734" y="537254"/>
            <a:ext cx="2830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>
                <a:solidFill>
                  <a:srgbClr val="00B050"/>
                </a:solidFill>
                <a:latin typeface="Aptos"/>
              </a:rPr>
              <a:t>Cu </a:t>
            </a:r>
            <a:r>
              <a:rPr lang="en-GB" b="1" u="sng" dirty="0" err="1">
                <a:solidFill>
                  <a:srgbClr val="00B050"/>
                </a:solidFill>
                <a:latin typeface="Aptos"/>
              </a:rPr>
              <a:t>valori</a:t>
            </a:r>
            <a:r>
              <a:rPr lang="en-GB" b="1" u="sng" dirty="0">
                <a:solidFill>
                  <a:srgbClr val="00B050"/>
                </a:solidFill>
                <a:latin typeface="Aptos"/>
              </a:rPr>
              <a:t> </a:t>
            </a:r>
            <a:r>
              <a:rPr lang="en-US" b="1" u="sng" dirty="0" err="1">
                <a:solidFill>
                  <a:srgbClr val="00B050"/>
                </a:solidFill>
                <a:latin typeface="Aptos"/>
              </a:rPr>
              <a:t>nominale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BB342B-C2BD-FA24-8156-6A96D6B12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322" y="1476101"/>
            <a:ext cx="3427673" cy="23738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088170-6704-0C5C-BF99-C7B18DBCB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476" y="1476101"/>
            <a:ext cx="3427673" cy="235833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171A77-CE52-EF81-4549-58832986520C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276856" y="3849996"/>
            <a:ext cx="403872" cy="116257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73CBB77-6E9A-5DE1-3C96-9C70CD2BE065}"/>
              </a:ext>
            </a:extLst>
          </p:cNvPr>
          <p:cNvSpPr/>
          <p:nvPr/>
        </p:nvSpPr>
        <p:spPr>
          <a:xfrm>
            <a:off x="1639026" y="3540906"/>
            <a:ext cx="1250478" cy="226422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CC68A-77A8-8987-E502-BA4EB4A0E04C}"/>
              </a:ext>
            </a:extLst>
          </p:cNvPr>
          <p:cNvSpPr txBox="1"/>
          <p:nvPr/>
        </p:nvSpPr>
        <p:spPr>
          <a:xfrm>
            <a:off x="1718662" y="5012567"/>
            <a:ext cx="192413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f</a:t>
            </a:r>
            <a:r>
              <a:rPr lang="en-US" sz="1200" b="1" dirty="0" err="1"/>
              <a:t>out</a:t>
            </a:r>
            <a:r>
              <a:rPr lang="en-US" sz="1200" b="1" dirty="0">
                <a:solidFill>
                  <a:srgbClr val="CDCDCD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=</a:t>
            </a:r>
            <a:r>
              <a:rPr 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</a:rPr>
              <a:t> 3.946 kHz</a:t>
            </a:r>
            <a:endParaRPr lang="en-US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EE62D9-D4F2-A9C6-3F40-01634D96E617}"/>
              </a:ext>
            </a:extLst>
          </p:cNvPr>
          <p:cNvCxnSpPr>
            <a:cxnSpLocks/>
            <a:stCxn id="21" idx="0"/>
            <a:endCxn id="19" idx="2"/>
          </p:cNvCxnSpPr>
          <p:nvPr/>
        </p:nvCxnSpPr>
        <p:spPr>
          <a:xfrm flipH="1" flipV="1">
            <a:off x="8485633" y="3767328"/>
            <a:ext cx="63576" cy="124523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2232A7F-82ED-8446-9C0C-98ACB0A55AF6}"/>
              </a:ext>
            </a:extLst>
          </p:cNvPr>
          <p:cNvSpPr/>
          <p:nvPr/>
        </p:nvSpPr>
        <p:spPr>
          <a:xfrm>
            <a:off x="7863841" y="3540906"/>
            <a:ext cx="1243584" cy="226422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2588AD-3077-001B-E938-0049D26968BB}"/>
              </a:ext>
            </a:extLst>
          </p:cNvPr>
          <p:cNvSpPr txBox="1"/>
          <p:nvPr/>
        </p:nvSpPr>
        <p:spPr>
          <a:xfrm>
            <a:off x="7587143" y="5012567"/>
            <a:ext cx="192413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f</a:t>
            </a:r>
            <a:r>
              <a:rPr lang="en-US" sz="1200" b="1" dirty="0" err="1"/>
              <a:t>out</a:t>
            </a:r>
            <a:r>
              <a:rPr lang="en-US" sz="1200" b="1" dirty="0">
                <a:solidFill>
                  <a:srgbClr val="CDCDCD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=</a:t>
            </a:r>
            <a:r>
              <a:rPr 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</a:rPr>
              <a:t> 3.926 kHz</a:t>
            </a:r>
            <a:endParaRPr lang="en-US" dirty="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055582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8A07D-1608-C93A-DDB3-1B2E5D71D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BF19CEE-36C9-5971-0178-46CA1CD28FB9}"/>
              </a:ext>
            </a:extLst>
          </p:cNvPr>
          <p:cNvSpPr txBox="1"/>
          <p:nvPr/>
        </p:nvSpPr>
        <p:spPr>
          <a:xfrm>
            <a:off x="2656461" y="54864"/>
            <a:ext cx="7507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o-MD" sz="2400" b="1" i="0" strike="noStrike" kern="1200" cap="none" spc="0" baseline="0" dirty="0">
                <a:solidFill>
                  <a:srgbClr val="FF0000"/>
                </a:solidFill>
                <a:uFillTx/>
                <a:latin typeface="Aptos"/>
              </a:rPr>
              <a:t>Tensiunea de ieșire a comparatorului de fereastră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79B44A-E3A2-547B-47DE-B4AFA7F43B02}"/>
              </a:ext>
            </a:extLst>
          </p:cNvPr>
          <p:cNvSpPr txBox="1"/>
          <p:nvPr/>
        </p:nvSpPr>
        <p:spPr>
          <a:xfrm>
            <a:off x="1789890" y="509432"/>
            <a:ext cx="2519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>
                <a:solidFill>
                  <a:srgbClr val="00B050"/>
                </a:solidFill>
                <a:latin typeface="Aptos"/>
              </a:rPr>
              <a:t>Cu </a:t>
            </a:r>
            <a:r>
              <a:rPr lang="en-GB" b="1" u="sng" dirty="0" err="1">
                <a:solidFill>
                  <a:srgbClr val="00B050"/>
                </a:solidFill>
                <a:latin typeface="Aptos"/>
              </a:rPr>
              <a:t>valori</a:t>
            </a:r>
            <a:r>
              <a:rPr lang="en-GB" b="1" u="sng" dirty="0">
                <a:solidFill>
                  <a:srgbClr val="00B050"/>
                </a:solidFill>
                <a:latin typeface="Aptos"/>
              </a:rPr>
              <a:t> </a:t>
            </a:r>
            <a:r>
              <a:rPr lang="ro-RO" b="1" u="sng" dirty="0">
                <a:solidFill>
                  <a:srgbClr val="00B050"/>
                </a:solidFill>
                <a:latin typeface="Aptos"/>
              </a:rPr>
              <a:t>matematice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12E630-388F-D91D-8189-12C168ABD8B3}"/>
              </a:ext>
            </a:extLst>
          </p:cNvPr>
          <p:cNvSpPr txBox="1"/>
          <p:nvPr/>
        </p:nvSpPr>
        <p:spPr>
          <a:xfrm>
            <a:off x="8172828" y="532515"/>
            <a:ext cx="2830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>
                <a:solidFill>
                  <a:srgbClr val="00B050"/>
                </a:solidFill>
                <a:latin typeface="Aptos"/>
              </a:rPr>
              <a:t>Cu </a:t>
            </a:r>
            <a:r>
              <a:rPr lang="en-GB" b="1" u="sng" dirty="0" err="1">
                <a:solidFill>
                  <a:srgbClr val="00B050"/>
                </a:solidFill>
                <a:latin typeface="Aptos"/>
              </a:rPr>
              <a:t>valori</a:t>
            </a:r>
            <a:r>
              <a:rPr lang="en-GB" b="1" u="sng" dirty="0">
                <a:solidFill>
                  <a:srgbClr val="00B050"/>
                </a:solidFill>
                <a:latin typeface="Aptos"/>
              </a:rPr>
              <a:t> </a:t>
            </a:r>
            <a:r>
              <a:rPr lang="en-US" b="1" u="sng" dirty="0" err="1">
                <a:solidFill>
                  <a:srgbClr val="00B050"/>
                </a:solidFill>
                <a:latin typeface="Aptos"/>
              </a:rPr>
              <a:t>nominale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5A60CD-D4C3-10BC-179A-7B361A2FC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592" y="1333332"/>
            <a:ext cx="3820058" cy="2610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8FF2C8-21F9-33D3-C16C-24A06BC16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3441" y="1333332"/>
            <a:ext cx="3773057" cy="26102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FB7B7C-101F-A375-3E45-0C753C338CC5}"/>
                  </a:ext>
                </a:extLst>
              </p:cNvPr>
              <p:cNvSpPr txBox="1"/>
              <p:nvPr/>
            </p:nvSpPr>
            <p:spPr>
              <a:xfrm>
                <a:off x="668371" y="4529332"/>
                <a:ext cx="21052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  <m:r>
                        <a:rPr lang="en-GB" b="0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b="1" i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𝑶𝑯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FB7B7C-101F-A375-3E45-0C753C338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71" y="4529332"/>
                <a:ext cx="210522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EC7C5AA-CED5-93E8-4548-232C04C2CE4C}"/>
                  </a:ext>
                </a:extLst>
              </p:cNvPr>
              <p:cNvSpPr txBox="1"/>
              <p:nvPr/>
            </p:nvSpPr>
            <p:spPr>
              <a:xfrm>
                <a:off x="618517" y="5115118"/>
                <a:ext cx="22179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𝐨𝐮𝐭</m:t>
                          </m:r>
                        </m:sub>
                      </m:sSub>
                      <m:r>
                        <a:rPr lang="en-GB" b="0" i="0">
                          <a:latin typeface="Cambria Math" panose="02040503050406030204" pitchFamily="18" charset="0"/>
                        </a:rPr>
                        <m:t>≈−</m:t>
                      </m:r>
                      <m:r>
                        <a:rPr lang="en-GB" b="1" i="0">
                          <a:latin typeface="Cambria Math" panose="02040503050406030204" pitchFamily="18" charset="0"/>
                        </a:rPr>
                        <m:t>𝟓𝐕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𝐎𝐋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EC7C5AA-CED5-93E8-4548-232C04C2C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17" y="5115118"/>
                <a:ext cx="221790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EC5871-2673-E19D-3622-4761CF6948A5}"/>
                  </a:ext>
                </a:extLst>
              </p:cNvPr>
              <p:cNvSpPr txBox="1"/>
              <p:nvPr/>
            </p:nvSpPr>
            <p:spPr>
              <a:xfrm>
                <a:off x="6763361" y="4529332"/>
                <a:ext cx="21052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  <m:r>
                        <a:rPr lang="en-GB" b="0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b="1" i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𝑶𝑯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EC5871-2673-E19D-3622-4761CF694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361" y="4529332"/>
                <a:ext cx="210522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71739E-2A37-38DD-8713-D44D6CDB75B9}"/>
                  </a:ext>
                </a:extLst>
              </p:cNvPr>
              <p:cNvSpPr txBox="1"/>
              <p:nvPr/>
            </p:nvSpPr>
            <p:spPr>
              <a:xfrm>
                <a:off x="6713507" y="5115118"/>
                <a:ext cx="22179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𝐨𝐮𝐭</m:t>
                          </m:r>
                        </m:sub>
                      </m:sSub>
                      <m:r>
                        <a:rPr lang="en-GB" b="0" i="0">
                          <a:latin typeface="Cambria Math" panose="02040503050406030204" pitchFamily="18" charset="0"/>
                        </a:rPr>
                        <m:t>≈−</m:t>
                      </m:r>
                      <m:r>
                        <a:rPr lang="en-GB" b="1" i="0">
                          <a:latin typeface="Cambria Math" panose="02040503050406030204" pitchFamily="18" charset="0"/>
                        </a:rPr>
                        <m:t>𝟓𝐕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𝐎𝐋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71739E-2A37-38DD-8713-D44D6CDB7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507" y="5115118"/>
                <a:ext cx="22179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4952CF-1C9F-BECA-3731-B75C67586B67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2656461" y="2974829"/>
            <a:ext cx="864410" cy="241001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B408070-B4CF-8179-176E-69CEB54BA248}"/>
              </a:ext>
            </a:extLst>
          </p:cNvPr>
          <p:cNvSpPr/>
          <p:nvPr/>
        </p:nvSpPr>
        <p:spPr>
          <a:xfrm>
            <a:off x="3520871" y="2861618"/>
            <a:ext cx="1371599" cy="226422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5856B1F-E1AA-6984-DE29-35228DAD8D8C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2656461" y="2271237"/>
            <a:ext cx="864410" cy="241001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DB3BD80-7250-B548-3BAD-4E1A48BCC274}"/>
              </a:ext>
            </a:extLst>
          </p:cNvPr>
          <p:cNvSpPr/>
          <p:nvPr/>
        </p:nvSpPr>
        <p:spPr>
          <a:xfrm>
            <a:off x="3520871" y="2158026"/>
            <a:ext cx="1371599" cy="226422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614B493-F015-6AA6-D3CC-24EE36A8B608}"/>
              </a:ext>
            </a:extLst>
          </p:cNvPr>
          <p:cNvCxnSpPr>
            <a:cxnSpLocks/>
            <a:stCxn id="20" idx="3"/>
            <a:endCxn id="33" idx="1"/>
          </p:cNvCxnSpPr>
          <p:nvPr/>
        </p:nvCxnSpPr>
        <p:spPr>
          <a:xfrm flipV="1">
            <a:off x="8931413" y="2915926"/>
            <a:ext cx="801585" cy="238385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D3BE752-C8F4-F0D0-717E-3DD3D7731F5D}"/>
              </a:ext>
            </a:extLst>
          </p:cNvPr>
          <p:cNvSpPr/>
          <p:nvPr/>
        </p:nvSpPr>
        <p:spPr>
          <a:xfrm>
            <a:off x="9732998" y="2802715"/>
            <a:ext cx="1371599" cy="226422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AD240B-3FEC-5604-1EAF-72E6BD8DD841}"/>
              </a:ext>
            </a:extLst>
          </p:cNvPr>
          <p:cNvCxnSpPr>
            <a:cxnSpLocks/>
            <a:stCxn id="19" idx="3"/>
            <a:endCxn id="35" idx="1"/>
          </p:cNvCxnSpPr>
          <p:nvPr/>
        </p:nvCxnSpPr>
        <p:spPr>
          <a:xfrm flipV="1">
            <a:off x="8868588" y="2212334"/>
            <a:ext cx="864410" cy="2501664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0D3836B-9CFA-179F-BCBC-8D6CAF8C370D}"/>
              </a:ext>
            </a:extLst>
          </p:cNvPr>
          <p:cNvSpPr/>
          <p:nvPr/>
        </p:nvSpPr>
        <p:spPr>
          <a:xfrm>
            <a:off x="9732998" y="2099123"/>
            <a:ext cx="1371599" cy="226422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07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1833-49A2-01C8-55FF-089E810F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9E5F35-0DE8-CE5B-37F1-C9BC194D6F68}"/>
              </a:ext>
            </a:extLst>
          </p:cNvPr>
          <p:cNvSpPr txBox="1"/>
          <p:nvPr/>
        </p:nvSpPr>
        <p:spPr>
          <a:xfrm>
            <a:off x="2638627" y="137825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o-MD" sz="2400" b="1" dirty="0">
                <a:solidFill>
                  <a:srgbClr val="FF0000"/>
                </a:solidFill>
                <a:latin typeface="Aptos"/>
              </a:rPr>
              <a:t>Analiza parametric</a:t>
            </a:r>
            <a:r>
              <a:rPr lang="en-US" sz="2400" b="1" dirty="0">
                <a:solidFill>
                  <a:srgbClr val="FF0000"/>
                </a:solidFill>
                <a:latin typeface="Aptos"/>
              </a:rPr>
              <a:t>a</a:t>
            </a:r>
            <a:endParaRPr lang="ro-MD" sz="2400" b="1" i="0" strike="noStrike" kern="1200" cap="none" spc="0" baseline="0" dirty="0">
              <a:solidFill>
                <a:srgbClr val="FF0000"/>
              </a:solidFill>
              <a:uFillTx/>
              <a:latin typeface="Apto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8B255A-A602-6B30-3E22-F0DF21B17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52" y="1335023"/>
            <a:ext cx="11392252" cy="5183983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B230BBD-2FB1-76BB-31E3-F1868B66D91E}"/>
              </a:ext>
            </a:extLst>
          </p:cNvPr>
          <p:cNvCxnSpPr>
            <a:cxnSpLocks/>
          </p:cNvCxnSpPr>
          <p:nvPr/>
        </p:nvCxnSpPr>
        <p:spPr>
          <a:xfrm>
            <a:off x="9848185" y="4732117"/>
            <a:ext cx="204280" cy="904673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700BC15-F069-2401-6EFD-349177564A98}"/>
              </a:ext>
            </a:extLst>
          </p:cNvPr>
          <p:cNvSpPr txBox="1"/>
          <p:nvPr/>
        </p:nvSpPr>
        <p:spPr>
          <a:xfrm>
            <a:off x="8943512" y="4147342"/>
            <a:ext cx="2577830" cy="584775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Comenzile</a:t>
            </a:r>
            <a:r>
              <a:rPr lang="en-US" sz="1600" dirty="0"/>
              <a:t> .</a:t>
            </a:r>
            <a:r>
              <a:rPr lang="en-US" sz="1600" dirty="0" err="1"/>
              <a:t>meas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a </a:t>
            </a:r>
            <a:r>
              <a:rPr lang="en-US" sz="1600" dirty="0" err="1"/>
              <a:t>masura</a:t>
            </a:r>
            <a:r>
              <a:rPr lang="en-US" sz="1600" dirty="0"/>
              <a:t> </a:t>
            </a:r>
            <a:r>
              <a:rPr lang="en-US" sz="1600" dirty="0" err="1"/>
              <a:t>frecventa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68547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DDE554-F5EA-1D1F-7FA3-19CFC493358C}"/>
              </a:ext>
            </a:extLst>
          </p:cNvPr>
          <p:cNvSpPr txBox="1"/>
          <p:nvPr/>
        </p:nvSpPr>
        <p:spPr>
          <a:xfrm>
            <a:off x="2609444" y="215647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o-MD" sz="2400" b="1" dirty="0">
                <a:solidFill>
                  <a:srgbClr val="FF0000"/>
                </a:solidFill>
                <a:latin typeface="Aptos"/>
              </a:rPr>
              <a:t>Analiza parametric</a:t>
            </a:r>
            <a:r>
              <a:rPr lang="en-US" sz="2400" b="1" dirty="0">
                <a:solidFill>
                  <a:srgbClr val="FF0000"/>
                </a:solidFill>
                <a:latin typeface="Aptos"/>
              </a:rPr>
              <a:t>a</a:t>
            </a:r>
            <a:endParaRPr lang="ro-MD" sz="2400" b="1" i="0" strike="noStrike" kern="1200" cap="none" spc="0" baseline="0" dirty="0">
              <a:solidFill>
                <a:srgbClr val="FF0000"/>
              </a:solidFill>
              <a:uFillTx/>
              <a:latin typeface="Apto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C7FB7D-F3F8-873F-0F4F-B97D1BD1F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22"/>
            <a:ext cx="12192000" cy="561875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E60BE0-67FC-5E31-36E1-7614C9B5F99E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609444" y="3599401"/>
            <a:ext cx="1463418" cy="78971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B244504-F8AA-3041-025D-8B93170CD157}"/>
              </a:ext>
            </a:extLst>
          </p:cNvPr>
          <p:cNvSpPr/>
          <p:nvPr/>
        </p:nvSpPr>
        <p:spPr>
          <a:xfrm>
            <a:off x="4072862" y="3419856"/>
            <a:ext cx="2510818" cy="35908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4AB16-C7FE-05CB-5C96-67790122C32F}"/>
              </a:ext>
            </a:extLst>
          </p:cNvPr>
          <p:cNvSpPr txBox="1"/>
          <p:nvPr/>
        </p:nvSpPr>
        <p:spPr>
          <a:xfrm>
            <a:off x="1417022" y="4423763"/>
            <a:ext cx="192413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f</a:t>
            </a:r>
            <a:r>
              <a:rPr lang="en-US" sz="1200" b="1" dirty="0" err="1"/>
              <a:t>out</a:t>
            </a:r>
            <a:r>
              <a:rPr lang="en-US" sz="1200" b="1" dirty="0">
                <a:solidFill>
                  <a:srgbClr val="CDCDCD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=</a:t>
            </a:r>
            <a:r>
              <a:rPr 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</a:rPr>
              <a:t> 3926.44 Hz</a:t>
            </a:r>
            <a:endParaRPr lang="en-US" dirty="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914285739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1603</TotalTime>
  <Words>472</Words>
  <Application>Microsoft Office PowerPoint</Application>
  <PresentationFormat>Ecran lat</PresentationFormat>
  <Paragraphs>78</Paragraphs>
  <Slides>30</Slides>
  <Notes>2</Notes>
  <HiddenSlides>0</HiddenSlides>
  <MMClips>0</MMClips>
  <ScaleCrop>false</ScaleCrop>
  <HeadingPairs>
    <vt:vector size="6" baseType="variant">
      <vt:variant>
        <vt:lpstr>Fonturi utilizate</vt:lpstr>
      </vt:variant>
      <vt:variant>
        <vt:i4>7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30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Symbol</vt:lpstr>
      <vt:lpstr>Times New Roman</vt:lpstr>
      <vt:lpstr>Wingdings</vt:lpstr>
      <vt:lpstr>Temă Office</vt:lpstr>
      <vt:lpstr>  PROIECT DE SEMESTRU LA  DISCIPLINA SISTEME CU CIRCUITE  INTEGRATE ANALOGIC  2025 </vt:lpstr>
      <vt:lpstr>Cerinta</vt:lpstr>
      <vt:lpstr>Detalii tehnice </vt:lpstr>
      <vt:lpstr>Schema bloc</vt:lpstr>
      <vt:lpstr>Schema electrica</vt:lpstr>
      <vt:lpstr>Proiectarea si calculul detaliat al circuitului </vt:lpstr>
      <vt:lpstr>Prezentare PowerPoint</vt:lpstr>
      <vt:lpstr>Blocul Generator Trapezoidal (Timer 555 + Amplificator și Limitator)</vt:lpstr>
      <vt:lpstr>Semnalul Triunghiular care trebuie amplificat până la excursia de tensiune a AO LM324</vt:lpstr>
      <vt:lpstr>Semnalul Trapezoidal rezultat din tăierea triunghiului din Timer 555</vt:lpstr>
      <vt:lpstr>Semnalul Triunghiular rezultat din Trigger-Schmitt</vt:lpstr>
      <vt:lpstr>Semnalul Triunghiular rezultat din Trigger-Schmitt</vt:lpstr>
      <vt:lpstr>Semnalul final după însumarea semnalelor aferente</vt:lpstr>
      <vt:lpstr>Semnalul final după însumarea semnalelor aferente</vt:lpstr>
      <vt:lpstr>Semnalul final după însumarea semnalelor aferente</vt:lpstr>
      <vt:lpstr>Semnalul final după însumarea semnalelor aferente</vt:lpstr>
      <vt:lpstr>Semnalul final după însumarea semnalelor aferente</vt:lpstr>
      <vt:lpstr>PROIECT-GENERATOARE CONVERTOR V/F CU FRECVENȚE ÎN DOMENIUL AUDIO </vt:lpstr>
      <vt:lpstr>Schema electrica</vt:lpstr>
      <vt:lpstr>Diagrama de semnal si expresia perioadelor </vt:lpstr>
      <vt:lpstr>Dimensionare</vt:lpstr>
      <vt:lpstr>Amplitudine semnal dovedita in simulare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Bianca Moldovan</dc:creator>
  <cp:lastModifiedBy>Daniela Bianca Moldovan</cp:lastModifiedBy>
  <cp:revision>6</cp:revision>
  <dcterms:created xsi:type="dcterms:W3CDTF">2026-02-18T10:19:08Z</dcterms:created>
  <dcterms:modified xsi:type="dcterms:W3CDTF">2026-02-28T15:27:22Z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2026-02-18T15:42:16Z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4634ba2c-ebdd-4ef9-81e8-258d03e95791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